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liverengel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609600"/>
            <a:ext cx="4605338" cy="1652588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38" y="290513"/>
            <a:ext cx="4724400" cy="4852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100" y="4214813"/>
            <a:ext cx="344805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kern="0" spc="-30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Resource by Oliver Engel · </a:t>
            </a:r>
            <a:r>
              <a:rPr lang="en-US" sz="1350" u="sng" kern="0" spc="-30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oliverengel.com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00100" y="609600"/>
            <a:ext cx="5062538" cy="576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536"/>
              </a:lnSpc>
              <a:buNone/>
            </a:pPr>
            <a:r>
              <a:rPr lang="en-US" sz="4725" kern="0" spc="-104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Design</a:t>
            </a:r>
            <a:endParaRPr lang="en-US" sz="4725" dirty="0"/>
          </a:p>
        </p:txBody>
      </p:sp>
      <p:sp>
        <p:nvSpPr>
          <p:cNvPr id="6" name="Text 3"/>
          <p:cNvSpPr/>
          <p:nvPr/>
        </p:nvSpPr>
        <p:spPr>
          <a:xfrm>
            <a:off x="800100" y="1147763"/>
            <a:ext cx="5062538" cy="576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536"/>
              </a:lnSpc>
              <a:buNone/>
            </a:pPr>
            <a:r>
              <a:rPr lang="en-US" sz="4725" i="1" kern="0" spc="-104" dirty="0">
                <a:solidFill>
                  <a:srgbClr val="1C1F23">
                    <a:alpha val="99000"/>
                  </a:srgbClr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SchemeMatch AI</a:t>
            </a:r>
            <a:endParaRPr lang="en-US" sz="4725" dirty="0"/>
          </a:p>
        </p:txBody>
      </p:sp>
      <p:sp>
        <p:nvSpPr>
          <p:cNvPr id="7" name="Text 4"/>
          <p:cNvSpPr/>
          <p:nvPr/>
        </p:nvSpPr>
        <p:spPr>
          <a:xfrm>
            <a:off x="800100" y="1685925"/>
            <a:ext cx="5062538" cy="576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536"/>
              </a:lnSpc>
              <a:buNone/>
            </a:pPr>
            <a:r>
              <a:rPr lang="en-US" sz="4725" kern="0" spc="-104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</a:t>
            </a:r>
            <a:endParaRPr lang="en-US" sz="4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2705100"/>
            <a:ext cx="3962400" cy="15621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334000" y="0"/>
            <a:ext cx="3810000" cy="5143500"/>
          </a:xfrm>
          <a:prstGeom prst="rect">
            <a:avLst/>
          </a:prstGeom>
          <a:solidFill>
            <a:srgbClr val="E8EDE8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" y="609600"/>
            <a:ext cx="3962400" cy="6858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800100" y="609600"/>
            <a:ext cx="3962400" cy="6858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800100" y="2705100"/>
            <a:ext cx="3962400" cy="1905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800100" y="2971800"/>
            <a:ext cx="3962400" cy="0"/>
          </a:xfrm>
          <a:prstGeom prst="line">
            <a:avLst/>
          </a:prstGeom>
          <a:noFill/>
          <a:ln w="12700">
            <a:solidFill>
              <a:srgbClr val="1C1F23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48000"/>
            <a:ext cx="3962400" cy="1905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00100" y="3314700"/>
            <a:ext cx="3962400" cy="0"/>
          </a:xfrm>
          <a:prstGeom prst="line">
            <a:avLst/>
          </a:prstGeom>
          <a:noFill/>
          <a:ln w="12700">
            <a:solidFill>
              <a:srgbClr val="1C1F23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3390900"/>
            <a:ext cx="3962400" cy="1905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800100" y="3657600"/>
            <a:ext cx="3962400" cy="0"/>
          </a:xfrm>
          <a:prstGeom prst="line">
            <a:avLst/>
          </a:prstGeom>
          <a:noFill/>
          <a:ln w="12700">
            <a:solidFill>
              <a:srgbClr val="1C1F23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3733800"/>
            <a:ext cx="3962400" cy="19050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800100" y="4000500"/>
            <a:ext cx="3962400" cy="0"/>
          </a:xfrm>
          <a:prstGeom prst="line">
            <a:avLst/>
          </a:prstGeom>
          <a:noFill/>
          <a:ln w="12700">
            <a:solidFill>
              <a:srgbClr val="1C1F23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" y="4076700"/>
            <a:ext cx="3962400" cy="190500"/>
          </a:xfrm>
          <a:prstGeom prst="rect">
            <a:avLst/>
          </a:prstGeom>
          <a:noFill/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461963"/>
            <a:ext cx="2054226" cy="4216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0100" y="609600"/>
            <a:ext cx="44196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kern="0" spc="-59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800100" y="1038225"/>
            <a:ext cx="4419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kern="0" spc="-30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helping farmers to find schemes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00100" y="4076700"/>
            <a:ext cx="1238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695450" y="4076700"/>
            <a:ext cx="3524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00100" y="3733800"/>
            <a:ext cx="1238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695450" y="3733800"/>
            <a:ext cx="3524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Sravya, Naveena, Chandrika, Bhavitha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00100" y="3390900"/>
            <a:ext cx="1238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Length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695450" y="3390900"/>
            <a:ext cx="3524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July 30- August 18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00100" y="3048000"/>
            <a:ext cx="1238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695450" y="3048000"/>
            <a:ext cx="3524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in VLITS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00100" y="2705100"/>
            <a:ext cx="1238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Organiser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695450" y="2705100"/>
            <a:ext cx="35242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Capital one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2066925"/>
            <a:ext cx="2300288" cy="100965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88" y="609600"/>
            <a:ext cx="4976813" cy="39243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088" y="609600"/>
            <a:ext cx="4976813" cy="39243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00100" y="2066925"/>
            <a:ext cx="275748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kern="0" spc="-40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800100" y="2505075"/>
            <a:ext cx="2757488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Helping farmers to know what kind of schemes their eligible to.........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kern="0" spc="-26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spreading awareness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609600"/>
            <a:ext cx="7543800" cy="231457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800100" y="1095375"/>
            <a:ext cx="7543800" cy="28575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800100" y="1609725"/>
            <a:ext cx="7543800" cy="28575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800100" y="2124075"/>
            <a:ext cx="7543800" cy="28575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800100" y="2638425"/>
            <a:ext cx="7543800" cy="28575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800100" y="2638425"/>
            <a:ext cx="285750" cy="285750"/>
          </a:xfrm>
          <a:prstGeom prst="roundRect">
            <a:avLst>
              <a:gd name="adj" fmla="val 192000"/>
            </a:avLst>
          </a:prstGeom>
          <a:solidFill>
            <a:srgbClr val="E8EDE8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124075"/>
            <a:ext cx="285750" cy="285750"/>
          </a:xfrm>
          <a:prstGeom prst="roundRect">
            <a:avLst>
              <a:gd name="adj" fmla="val 192000"/>
            </a:avLst>
          </a:prstGeom>
          <a:solidFill>
            <a:srgbClr val="E8EDE8"/>
          </a:solidFill>
          <a:ln/>
        </p:spPr>
      </p:sp>
      <p:sp>
        <p:nvSpPr>
          <p:cNvPr id="9" name="Shape 7"/>
          <p:cNvSpPr/>
          <p:nvPr/>
        </p:nvSpPr>
        <p:spPr>
          <a:xfrm>
            <a:off x="1209675" y="2124075"/>
            <a:ext cx="7134225" cy="276225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800100" y="1609725"/>
            <a:ext cx="285750" cy="285750"/>
          </a:xfrm>
          <a:prstGeom prst="roundRect">
            <a:avLst>
              <a:gd name="adj" fmla="val 192000"/>
            </a:avLst>
          </a:prstGeom>
          <a:solidFill>
            <a:srgbClr val="E8E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209675" y="1609725"/>
            <a:ext cx="7134225" cy="276225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800100" y="1095375"/>
            <a:ext cx="285750" cy="285750"/>
          </a:xfrm>
          <a:prstGeom prst="roundRect">
            <a:avLst>
              <a:gd name="adj" fmla="val 192000"/>
            </a:avLst>
          </a:prstGeom>
          <a:solidFill>
            <a:srgbClr val="E8EDE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0100" y="609600"/>
            <a:ext cx="8001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kern="0" spc="-30" dirty="0">
                <a:solidFill>
                  <a:srgbClr val="30603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209675" y="2638425"/>
            <a:ext cx="75914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kern="0" spc="-40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Feedback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0100" y="2652713"/>
            <a:ext cx="74295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kern="0" spc="-30" dirty="0">
                <a:solidFill>
                  <a:srgbClr val="30603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209675" y="2124075"/>
            <a:ext cx="75914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kern="0" spc="-40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recomandations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00100" y="2138363"/>
            <a:ext cx="74295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kern="0" spc="-30" dirty="0">
                <a:solidFill>
                  <a:srgbClr val="30603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209675" y="1609725"/>
            <a:ext cx="75914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kern="0" spc="-40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0100" y="1624013"/>
            <a:ext cx="74295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kern="0" spc="-30" dirty="0">
                <a:solidFill>
                  <a:srgbClr val="30603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209675" y="1095375"/>
            <a:ext cx="75914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kern="0" spc="-40" dirty="0">
                <a:solidFill>
                  <a:srgbClr val="1C1F2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 page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00100" y="1109663"/>
            <a:ext cx="74295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kern="0" spc="-30" dirty="0">
                <a:solidFill>
                  <a:srgbClr val="30603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285750"/>
            <a:ext cx="60960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" y="285750"/>
            <a:ext cx="6096000" cy="4572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285750"/>
            <a:ext cx="6096000" cy="45720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1524000" y="285750"/>
            <a:ext cx="6096000" cy="309563"/>
          </a:xfrm>
          <a:prstGeom prst="rect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595313"/>
            <a:ext cx="6096000" cy="4262438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0" y="690563"/>
            <a:ext cx="4572000" cy="4071938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286000" y="690563"/>
            <a:ext cx="4572000" cy="24384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286000" y="3128963"/>
            <a:ext cx="4572000" cy="28575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286000" y="3414713"/>
            <a:ext cx="4572000" cy="1347788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2286000" y="3414713"/>
            <a:ext cx="4572000" cy="1347788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2362200" y="3490913"/>
            <a:ext cx="1435100" cy="1195388"/>
          </a:xfrm>
          <a:prstGeom prst="roundRect">
            <a:avLst>
              <a:gd name="adj" fmla="val 6120"/>
            </a:avLst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3854448" y="3490913"/>
            <a:ext cx="1435100" cy="1195388"/>
          </a:xfrm>
          <a:prstGeom prst="roundRect">
            <a:avLst>
              <a:gd name="adj" fmla="val 6120"/>
            </a:avLst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5346702" y="3490913"/>
            <a:ext cx="1435100" cy="1195388"/>
          </a:xfrm>
          <a:prstGeom prst="roundRect">
            <a:avLst>
              <a:gd name="adj" fmla="val 6120"/>
            </a:avLst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5346702" y="4371975"/>
            <a:ext cx="1435100" cy="314325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346702" y="4371975"/>
            <a:ext cx="14351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5346702" y="4486275"/>
            <a:ext cx="1435100" cy="200025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3854448" y="4371975"/>
            <a:ext cx="1435100" cy="314325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3854448" y="4371975"/>
            <a:ext cx="14351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3854448" y="4486275"/>
            <a:ext cx="1435100" cy="200025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2362200" y="4371975"/>
            <a:ext cx="1435100" cy="31432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2362200" y="4371975"/>
            <a:ext cx="14351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2362200" y="4486275"/>
            <a:ext cx="1435100" cy="200025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1714500" y="383381"/>
            <a:ext cx="852488" cy="109538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2566988" y="342900"/>
            <a:ext cx="4862513" cy="1905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5776913" y="342900"/>
            <a:ext cx="971550" cy="1905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900863" y="342900"/>
            <a:ext cx="528638" cy="190500"/>
          </a:xfrm>
          <a:prstGeom prst="roundRect">
            <a:avLst>
              <a:gd name="adj" fmla="val 38400"/>
            </a:avLst>
          </a:prstGeom>
          <a:solidFill>
            <a:srgbClr val="1A80E5"/>
          </a:solidFill>
          <a:ln/>
        </p:spPr>
      </p:sp>
      <p:sp>
        <p:nvSpPr>
          <p:cNvPr id="28" name="Shape 26"/>
          <p:cNvSpPr/>
          <p:nvPr/>
        </p:nvSpPr>
        <p:spPr>
          <a:xfrm>
            <a:off x="6977063" y="388144"/>
            <a:ext cx="376238" cy="100013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5776913" y="388144"/>
            <a:ext cx="185738" cy="100013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134100" y="388144"/>
            <a:ext cx="195263" cy="100013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6500813" y="388144"/>
            <a:ext cx="247650" cy="100013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1714500" y="400050"/>
            <a:ext cx="76200" cy="762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1866900" y="383381"/>
            <a:ext cx="700088" cy="109538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1714500" y="400050"/>
            <a:ext cx="76200" cy="76200"/>
          </a:xfrm>
          <a:prstGeom prst="rect">
            <a:avLst/>
          </a:prstGeom>
          <a:noFill/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2" y="3490913"/>
            <a:ext cx="1435100" cy="804863"/>
          </a:xfrm>
          <a:prstGeom prst="rect">
            <a:avLst/>
          </a:prstGeom>
        </p:spPr>
      </p:pic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448" y="3490913"/>
            <a:ext cx="1435100" cy="804863"/>
          </a:xfrm>
          <a:prstGeom prst="rect">
            <a:avLst/>
          </a:prstGeom>
        </p:spPr>
      </p:pic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3490913"/>
            <a:ext cx="1435100" cy="804863"/>
          </a:xfrm>
          <a:prstGeom prst="rect">
            <a:avLst/>
          </a:prstGeom>
        </p:spPr>
      </p:pic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90563"/>
            <a:ext cx="4572000" cy="2438400"/>
          </a:xfrm>
          <a:prstGeom prst="rect">
            <a:avLst/>
          </a:prstGeom>
        </p:spPr>
      </p:pic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400050"/>
            <a:ext cx="63503" cy="635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346702" y="4486275"/>
            <a:ext cx="18923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Supports senior citizens with healthcare, housing, and financial aid.</a:t>
            </a:r>
            <a:endParaRPr lang="en-US" sz="525" dirty="0"/>
          </a:p>
        </p:txBody>
      </p:sp>
      <p:sp>
        <p:nvSpPr>
          <p:cNvPr id="41" name="Text 34"/>
          <p:cNvSpPr/>
          <p:nvPr/>
        </p:nvSpPr>
        <p:spPr>
          <a:xfrm>
            <a:off x="5346702" y="4371975"/>
            <a:ext cx="18923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Senior Citizen Assistance</a:t>
            </a:r>
            <a:endParaRPr lang="en-US" sz="600" dirty="0"/>
          </a:p>
        </p:txBody>
      </p:sp>
      <p:sp>
        <p:nvSpPr>
          <p:cNvPr id="42" name="Text 35"/>
          <p:cNvSpPr/>
          <p:nvPr/>
        </p:nvSpPr>
        <p:spPr>
          <a:xfrm>
            <a:off x="3854448" y="4486275"/>
            <a:ext cx="18923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Offers grants and mentorship for aspiring entrepreneurs and small businesses.</a:t>
            </a:r>
            <a:endParaRPr lang="en-US" sz="525" dirty="0"/>
          </a:p>
        </p:txBody>
      </p:sp>
      <p:sp>
        <p:nvSpPr>
          <p:cNvPr id="43" name="Text 36"/>
          <p:cNvSpPr/>
          <p:nvPr/>
        </p:nvSpPr>
        <p:spPr>
          <a:xfrm>
            <a:off x="3854448" y="4371975"/>
            <a:ext cx="18923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Entrepreneurship Grant</a:t>
            </a:r>
            <a:endParaRPr lang="en-US" sz="600" dirty="0"/>
          </a:p>
        </p:txBody>
      </p:sp>
      <p:sp>
        <p:nvSpPr>
          <p:cNvPr id="44" name="Text 37"/>
          <p:cNvSpPr/>
          <p:nvPr/>
        </p:nvSpPr>
        <p:spPr>
          <a:xfrm>
            <a:off x="2362200" y="4486275"/>
            <a:ext cx="18923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Provides financial assistance and resources for families with children.</a:t>
            </a:r>
            <a:endParaRPr lang="en-US" sz="525" dirty="0"/>
          </a:p>
        </p:txBody>
      </p:sp>
      <p:sp>
        <p:nvSpPr>
          <p:cNvPr id="45" name="Text 38"/>
          <p:cNvSpPr/>
          <p:nvPr/>
        </p:nvSpPr>
        <p:spPr>
          <a:xfrm>
            <a:off x="2362200" y="4371975"/>
            <a:ext cx="18923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Family Support Program</a:t>
            </a:r>
            <a:endParaRPr lang="en-US" sz="600" dirty="0"/>
          </a:p>
        </p:txBody>
      </p:sp>
      <p:sp>
        <p:nvSpPr>
          <p:cNvPr id="46" name="Text 39"/>
          <p:cNvSpPr/>
          <p:nvPr/>
        </p:nvSpPr>
        <p:spPr>
          <a:xfrm>
            <a:off x="2362200" y="3224213"/>
            <a:ext cx="48768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25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Featured Schemes</a:t>
            </a:r>
            <a:endParaRPr lang="en-US" sz="825" dirty="0"/>
          </a:p>
        </p:txBody>
      </p:sp>
      <p:sp>
        <p:nvSpPr>
          <p:cNvPr id="47" name="Text 40"/>
          <p:cNvSpPr/>
          <p:nvPr/>
        </p:nvSpPr>
        <p:spPr>
          <a:xfrm>
            <a:off x="6977063" y="388144"/>
            <a:ext cx="833437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b="1" dirty="0">
                <a:solidFill>
                  <a:srgbClr val="F7FAF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Get Started</a:t>
            </a:r>
            <a:endParaRPr lang="en-US" sz="525" dirty="0"/>
          </a:p>
        </p:txBody>
      </p:sp>
      <p:sp>
        <p:nvSpPr>
          <p:cNvPr id="48" name="Text 41"/>
          <p:cNvSpPr/>
          <p:nvPr/>
        </p:nvSpPr>
        <p:spPr>
          <a:xfrm>
            <a:off x="6500813" y="388144"/>
            <a:ext cx="704850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Contact</a:t>
            </a:r>
            <a:endParaRPr lang="en-US" sz="525" dirty="0"/>
          </a:p>
        </p:txBody>
      </p:sp>
      <p:sp>
        <p:nvSpPr>
          <p:cNvPr id="49" name="Text 42"/>
          <p:cNvSpPr/>
          <p:nvPr/>
        </p:nvSpPr>
        <p:spPr>
          <a:xfrm>
            <a:off x="6134100" y="388144"/>
            <a:ext cx="652463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About</a:t>
            </a:r>
            <a:endParaRPr lang="en-US" sz="525" dirty="0"/>
          </a:p>
        </p:txBody>
      </p:sp>
      <p:sp>
        <p:nvSpPr>
          <p:cNvPr id="50" name="Text 43"/>
          <p:cNvSpPr/>
          <p:nvPr/>
        </p:nvSpPr>
        <p:spPr>
          <a:xfrm>
            <a:off x="5776913" y="388144"/>
            <a:ext cx="6429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Home</a:t>
            </a:r>
            <a:endParaRPr lang="en-US" sz="525" dirty="0"/>
          </a:p>
        </p:txBody>
      </p:sp>
      <p:sp>
        <p:nvSpPr>
          <p:cNvPr id="51" name="Text 44"/>
          <p:cNvSpPr/>
          <p:nvPr/>
        </p:nvSpPr>
        <p:spPr>
          <a:xfrm>
            <a:off x="1866900" y="383381"/>
            <a:ext cx="1157288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3"/>
              </a:lnSpc>
              <a:buNone/>
            </a:pPr>
            <a:r>
              <a:rPr lang="en-US" sz="675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SchemeMatch AI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176213"/>
            <a:ext cx="6096000" cy="48434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" y="176213"/>
            <a:ext cx="6096000" cy="613886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176213"/>
            <a:ext cx="6096000" cy="6138863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1524000" y="176213"/>
            <a:ext cx="6096000" cy="309563"/>
          </a:xfrm>
          <a:prstGeom prst="rect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485775"/>
            <a:ext cx="6096000" cy="58293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0" y="581025"/>
            <a:ext cx="4572000" cy="56388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286000" y="676275"/>
            <a:ext cx="4572000" cy="3429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286000" y="1019175"/>
            <a:ext cx="2286000" cy="53340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286000" y="1552575"/>
            <a:ext cx="2286000" cy="5334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2286000" y="2085975"/>
            <a:ext cx="2286000" cy="5334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2286000" y="2619375"/>
            <a:ext cx="2286000" cy="53340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2286000" y="3152775"/>
            <a:ext cx="2286000" cy="5334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2286000" y="3686175"/>
            <a:ext cx="2286000" cy="5334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2286000" y="4219575"/>
            <a:ext cx="2286000" cy="53340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2286000" y="4752975"/>
            <a:ext cx="2286000" cy="5334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2286000" y="5286375"/>
            <a:ext cx="2286000" cy="5334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2286000" y="5819775"/>
            <a:ext cx="4572000" cy="30480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2362200" y="5876925"/>
            <a:ext cx="2286000" cy="190500"/>
          </a:xfrm>
          <a:prstGeom prst="roundRect">
            <a:avLst>
              <a:gd name="adj" fmla="val 38400"/>
            </a:avLst>
          </a:prstGeom>
          <a:solidFill>
            <a:srgbClr val="1A80E5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8519" y="5922169"/>
            <a:ext cx="233362" cy="100013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2362200" y="5343525"/>
            <a:ext cx="2133600" cy="419100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2362200" y="5343525"/>
            <a:ext cx="2133600" cy="1524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2362200" y="5495925"/>
            <a:ext cx="2133600" cy="266700"/>
          </a:xfrm>
          <a:prstGeom prst="roundRect">
            <a:avLst>
              <a:gd name="adj" fmla="val 27429"/>
            </a:avLst>
          </a:prstGeom>
          <a:solidFill>
            <a:srgbClr val="E8EDF2"/>
          </a:solidFill>
          <a:ln/>
        </p:spPr>
      </p:sp>
      <p:sp>
        <p:nvSpPr>
          <p:cNvPr id="24" name="Shape 22"/>
          <p:cNvSpPr/>
          <p:nvPr/>
        </p:nvSpPr>
        <p:spPr>
          <a:xfrm>
            <a:off x="2362200" y="4810125"/>
            <a:ext cx="2133600" cy="419100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2362200" y="4810125"/>
            <a:ext cx="2133600" cy="1524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2362200" y="4962525"/>
            <a:ext cx="2133600" cy="266700"/>
          </a:xfrm>
          <a:prstGeom prst="roundRect">
            <a:avLst>
              <a:gd name="adj" fmla="val 27429"/>
            </a:avLst>
          </a:prstGeom>
          <a:solidFill>
            <a:srgbClr val="E8EDF2"/>
          </a:solidFill>
          <a:ln/>
        </p:spPr>
      </p:sp>
      <p:sp>
        <p:nvSpPr>
          <p:cNvPr id="27" name="Shape 25"/>
          <p:cNvSpPr/>
          <p:nvPr/>
        </p:nvSpPr>
        <p:spPr>
          <a:xfrm>
            <a:off x="2362200" y="4276725"/>
            <a:ext cx="2133600" cy="419100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2362200" y="4276725"/>
            <a:ext cx="2133600" cy="1524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2362200" y="4429125"/>
            <a:ext cx="2133600" cy="266700"/>
          </a:xfrm>
          <a:prstGeom prst="roundRect">
            <a:avLst>
              <a:gd name="adj" fmla="val 27429"/>
            </a:avLst>
          </a:prstGeom>
          <a:solidFill>
            <a:srgbClr val="E8EDF2"/>
          </a:solidFill>
          <a:ln/>
        </p:spPr>
      </p:sp>
      <p:sp>
        <p:nvSpPr>
          <p:cNvPr id="30" name="Shape 28"/>
          <p:cNvSpPr/>
          <p:nvPr/>
        </p:nvSpPr>
        <p:spPr>
          <a:xfrm>
            <a:off x="2362200" y="3743325"/>
            <a:ext cx="2133600" cy="419100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2362200" y="3743325"/>
            <a:ext cx="2133600" cy="1524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2362200" y="3895725"/>
            <a:ext cx="2133600" cy="266700"/>
          </a:xfrm>
          <a:prstGeom prst="roundRect">
            <a:avLst>
              <a:gd name="adj" fmla="val 27429"/>
            </a:avLst>
          </a:prstGeom>
          <a:solidFill>
            <a:srgbClr val="E8EDF2"/>
          </a:solidFill>
          <a:ln/>
        </p:spPr>
      </p:sp>
      <p:sp>
        <p:nvSpPr>
          <p:cNvPr id="33" name="Shape 31"/>
          <p:cNvSpPr/>
          <p:nvPr/>
        </p:nvSpPr>
        <p:spPr>
          <a:xfrm>
            <a:off x="2362200" y="3209925"/>
            <a:ext cx="2133600" cy="419100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2362200" y="3209925"/>
            <a:ext cx="2133600" cy="152400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2362200" y="3362325"/>
            <a:ext cx="2133600" cy="266700"/>
          </a:xfrm>
          <a:prstGeom prst="roundRect">
            <a:avLst>
              <a:gd name="adj" fmla="val 27429"/>
            </a:avLst>
          </a:prstGeom>
          <a:solidFill>
            <a:srgbClr val="E8EDF2"/>
          </a:solidFill>
          <a:ln/>
        </p:spPr>
      </p:sp>
      <p:sp>
        <p:nvSpPr>
          <p:cNvPr id="36" name="Shape 34"/>
          <p:cNvSpPr/>
          <p:nvPr/>
        </p:nvSpPr>
        <p:spPr>
          <a:xfrm>
            <a:off x="2362200" y="2676525"/>
            <a:ext cx="2133600" cy="419100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2362200" y="2676525"/>
            <a:ext cx="2133600" cy="152400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2362200" y="2828925"/>
            <a:ext cx="2133600" cy="266700"/>
          </a:xfrm>
          <a:prstGeom prst="roundRect">
            <a:avLst>
              <a:gd name="adj" fmla="val 27429"/>
            </a:avLst>
          </a:prstGeom>
          <a:solidFill>
            <a:srgbClr val="E8EDF2"/>
          </a:solidFill>
          <a:ln/>
        </p:spPr>
      </p:sp>
      <p:sp>
        <p:nvSpPr>
          <p:cNvPr id="39" name="Shape 37"/>
          <p:cNvSpPr/>
          <p:nvPr/>
        </p:nvSpPr>
        <p:spPr>
          <a:xfrm>
            <a:off x="2362200" y="2143125"/>
            <a:ext cx="2133600" cy="419100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2362200" y="2143125"/>
            <a:ext cx="2133600" cy="152400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2362200" y="2295525"/>
            <a:ext cx="2133600" cy="266700"/>
          </a:xfrm>
          <a:prstGeom prst="roundRect">
            <a:avLst>
              <a:gd name="adj" fmla="val 27429"/>
            </a:avLst>
          </a:prstGeom>
          <a:solidFill>
            <a:srgbClr val="E8EDF2"/>
          </a:solidFill>
          <a:ln/>
        </p:spPr>
      </p:sp>
      <p:sp>
        <p:nvSpPr>
          <p:cNvPr id="42" name="Shape 40"/>
          <p:cNvSpPr/>
          <p:nvPr/>
        </p:nvSpPr>
        <p:spPr>
          <a:xfrm>
            <a:off x="2362200" y="1609725"/>
            <a:ext cx="2133600" cy="419100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2362200" y="1609725"/>
            <a:ext cx="2133600" cy="152400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2362200" y="1762125"/>
            <a:ext cx="2133600" cy="266700"/>
          </a:xfrm>
          <a:prstGeom prst="roundRect">
            <a:avLst>
              <a:gd name="adj" fmla="val 27429"/>
            </a:avLst>
          </a:prstGeom>
          <a:solidFill>
            <a:srgbClr val="E8EDF2"/>
          </a:solidFill>
          <a:ln/>
        </p:spPr>
      </p:sp>
      <p:sp>
        <p:nvSpPr>
          <p:cNvPr id="45" name="Shape 43"/>
          <p:cNvSpPr/>
          <p:nvPr/>
        </p:nvSpPr>
        <p:spPr>
          <a:xfrm>
            <a:off x="2362200" y="1076325"/>
            <a:ext cx="2133600" cy="419100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2362200" y="1076325"/>
            <a:ext cx="2133600" cy="152400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2362200" y="1228725"/>
            <a:ext cx="2133600" cy="266700"/>
          </a:xfrm>
          <a:prstGeom prst="roundRect">
            <a:avLst>
              <a:gd name="adj" fmla="val 27429"/>
            </a:avLst>
          </a:prstGeom>
          <a:solidFill>
            <a:srgbClr val="E8EDF2"/>
          </a:solidFill>
          <a:ln/>
        </p:spPr>
      </p:sp>
      <p:sp>
        <p:nvSpPr>
          <p:cNvPr id="48" name="Shape 46"/>
          <p:cNvSpPr/>
          <p:nvPr/>
        </p:nvSpPr>
        <p:spPr>
          <a:xfrm>
            <a:off x="2362200" y="752475"/>
            <a:ext cx="2662238" cy="190500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1714500" y="273844"/>
            <a:ext cx="852488" cy="109538"/>
          </a:xfrm>
          <a:prstGeom prst="rect">
            <a:avLst/>
          </a:prstGeom>
          <a:noFill/>
          <a:ln/>
        </p:spPr>
      </p:sp>
      <p:sp>
        <p:nvSpPr>
          <p:cNvPr id="50" name="Shape 48"/>
          <p:cNvSpPr/>
          <p:nvPr/>
        </p:nvSpPr>
        <p:spPr>
          <a:xfrm>
            <a:off x="2566988" y="233362"/>
            <a:ext cx="4862513" cy="190500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5500688" y="233362"/>
            <a:ext cx="1585913" cy="190500"/>
          </a:xfrm>
          <a:prstGeom prst="rect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5500688" y="278606"/>
            <a:ext cx="185738" cy="100013"/>
          </a:xfrm>
          <a:prstGeom prst="rect">
            <a:avLst/>
          </a:prstGeom>
          <a:noFill/>
          <a:ln/>
        </p:spPr>
      </p:sp>
      <p:sp>
        <p:nvSpPr>
          <p:cNvPr id="53" name="Shape 51"/>
          <p:cNvSpPr/>
          <p:nvPr/>
        </p:nvSpPr>
        <p:spPr>
          <a:xfrm>
            <a:off x="5857875" y="278606"/>
            <a:ext cx="290513" cy="100013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6319838" y="278606"/>
            <a:ext cx="338138" cy="100013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6829425" y="278606"/>
            <a:ext cx="257175" cy="100013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1714500" y="290513"/>
            <a:ext cx="76200" cy="76200"/>
          </a:xfrm>
          <a:prstGeom prst="rect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1866900" y="273844"/>
            <a:ext cx="700088" cy="109538"/>
          </a:xfrm>
          <a:prstGeom prst="rect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1714500" y="290513"/>
            <a:ext cx="76200" cy="76200"/>
          </a:xfrm>
          <a:prstGeom prst="rect">
            <a:avLst/>
          </a:prstGeom>
          <a:noFill/>
          <a:ln/>
        </p:spPr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4429125"/>
            <a:ext cx="933538" cy="66727"/>
          </a:xfrm>
          <a:prstGeom prst="rect">
            <a:avLst/>
          </a:prstGeom>
        </p:spPr>
      </p:pic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362325"/>
            <a:ext cx="933538" cy="66727"/>
          </a:xfrm>
          <a:prstGeom prst="rect">
            <a:avLst/>
          </a:prstGeom>
        </p:spPr>
      </p:pic>
      <p:pic>
        <p:nvPicPr>
          <p:cNvPr id="6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828925"/>
            <a:ext cx="933538" cy="66727"/>
          </a:xfrm>
          <a:prstGeom prst="rect">
            <a:avLst/>
          </a:prstGeom>
        </p:spPr>
      </p:pic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295525"/>
            <a:ext cx="933538" cy="66727"/>
          </a:xfrm>
          <a:prstGeom prst="rect">
            <a:avLst/>
          </a:prstGeom>
        </p:spPr>
      </p:pic>
      <p:pic>
        <p:nvPicPr>
          <p:cNvPr id="6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233362"/>
            <a:ext cx="190500" cy="190500"/>
          </a:xfrm>
          <a:prstGeom prst="rect">
            <a:avLst/>
          </a:prstGeom>
        </p:spPr>
      </p:pic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290513"/>
            <a:ext cx="63503" cy="63500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3388519" y="5922169"/>
            <a:ext cx="690562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b="1" dirty="0">
                <a:solidFill>
                  <a:srgbClr val="F7FAF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Submit</a:t>
            </a:r>
            <a:endParaRPr lang="en-US" sz="525" dirty="0"/>
          </a:p>
        </p:txBody>
      </p:sp>
      <p:sp>
        <p:nvSpPr>
          <p:cNvPr id="66" name="Text 58"/>
          <p:cNvSpPr/>
          <p:nvPr/>
        </p:nvSpPr>
        <p:spPr>
          <a:xfrm>
            <a:off x="2438400" y="5572125"/>
            <a:ext cx="1187797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Enter  your annual income</a:t>
            </a:r>
            <a:endParaRPr lang="en-US" sz="600" dirty="0"/>
          </a:p>
        </p:txBody>
      </p:sp>
      <p:sp>
        <p:nvSpPr>
          <p:cNvPr id="67" name="Text 59"/>
          <p:cNvSpPr/>
          <p:nvPr/>
        </p:nvSpPr>
        <p:spPr>
          <a:xfrm>
            <a:off x="2362200" y="5343525"/>
            <a:ext cx="2590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Annual Income (in INR)</a:t>
            </a:r>
            <a:endParaRPr lang="en-US" sz="600" dirty="0"/>
          </a:p>
        </p:txBody>
      </p:sp>
      <p:sp>
        <p:nvSpPr>
          <p:cNvPr id="68" name="Text 60"/>
          <p:cNvSpPr/>
          <p:nvPr/>
        </p:nvSpPr>
        <p:spPr>
          <a:xfrm>
            <a:off x="2362200" y="4962525"/>
            <a:ext cx="853901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Select  irrigation  access</a:t>
            </a:r>
            <a:endParaRPr lang="en-US" sz="600" dirty="0"/>
          </a:p>
        </p:txBody>
      </p:sp>
      <p:sp>
        <p:nvSpPr>
          <p:cNvPr id="69" name="Text 61"/>
          <p:cNvSpPr/>
          <p:nvPr/>
        </p:nvSpPr>
        <p:spPr>
          <a:xfrm>
            <a:off x="2362200" y="4810125"/>
            <a:ext cx="2590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Irrigation Access</a:t>
            </a:r>
            <a:endParaRPr lang="en-US" sz="600" dirty="0"/>
          </a:p>
        </p:txBody>
      </p:sp>
      <p:sp>
        <p:nvSpPr>
          <p:cNvPr id="70" name="Text 62"/>
          <p:cNvSpPr/>
          <p:nvPr/>
        </p:nvSpPr>
        <p:spPr>
          <a:xfrm>
            <a:off x="2362200" y="4429125"/>
            <a:ext cx="761479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Select  your  crop  type</a:t>
            </a:r>
            <a:endParaRPr lang="en-US" sz="600" dirty="0"/>
          </a:p>
        </p:txBody>
      </p:sp>
      <p:sp>
        <p:nvSpPr>
          <p:cNvPr id="71" name="Text 63"/>
          <p:cNvSpPr/>
          <p:nvPr/>
        </p:nvSpPr>
        <p:spPr>
          <a:xfrm>
            <a:off x="2362200" y="4276725"/>
            <a:ext cx="2590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Crop Type</a:t>
            </a:r>
            <a:endParaRPr lang="en-US" sz="600" dirty="0"/>
          </a:p>
        </p:txBody>
      </p:sp>
      <p:sp>
        <p:nvSpPr>
          <p:cNvPr id="72" name="Text 64"/>
          <p:cNvSpPr/>
          <p:nvPr/>
        </p:nvSpPr>
        <p:spPr>
          <a:xfrm>
            <a:off x="2438400" y="3971925"/>
            <a:ext cx="1111225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Enter  your landholding</a:t>
            </a:r>
            <a:endParaRPr lang="en-US" sz="600" dirty="0"/>
          </a:p>
        </p:txBody>
      </p:sp>
      <p:sp>
        <p:nvSpPr>
          <p:cNvPr id="73" name="Text 65"/>
          <p:cNvSpPr/>
          <p:nvPr/>
        </p:nvSpPr>
        <p:spPr>
          <a:xfrm>
            <a:off x="2362200" y="3743325"/>
            <a:ext cx="2590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Landholding (in acres)</a:t>
            </a:r>
            <a:endParaRPr lang="en-US" sz="600" dirty="0"/>
          </a:p>
        </p:txBody>
      </p:sp>
      <p:sp>
        <p:nvSpPr>
          <p:cNvPr id="74" name="Text 66"/>
          <p:cNvSpPr/>
          <p:nvPr/>
        </p:nvSpPr>
        <p:spPr>
          <a:xfrm>
            <a:off x="2362200" y="3362325"/>
            <a:ext cx="847427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Select  your  category</a:t>
            </a:r>
            <a:endParaRPr lang="en-US" sz="600" dirty="0"/>
          </a:p>
        </p:txBody>
      </p:sp>
      <p:sp>
        <p:nvSpPr>
          <p:cNvPr id="75" name="Text 67"/>
          <p:cNvSpPr/>
          <p:nvPr/>
        </p:nvSpPr>
        <p:spPr>
          <a:xfrm>
            <a:off x="2362200" y="3209925"/>
            <a:ext cx="2590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Category</a:t>
            </a:r>
            <a:endParaRPr lang="en-US" sz="600" dirty="0"/>
          </a:p>
        </p:txBody>
      </p:sp>
      <p:sp>
        <p:nvSpPr>
          <p:cNvPr id="76" name="Text 68"/>
          <p:cNvSpPr/>
          <p:nvPr/>
        </p:nvSpPr>
        <p:spPr>
          <a:xfrm>
            <a:off x="2362200" y="2828925"/>
            <a:ext cx="783803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Select  your  district</a:t>
            </a:r>
            <a:endParaRPr lang="en-US" sz="600" dirty="0"/>
          </a:p>
        </p:txBody>
      </p:sp>
      <p:sp>
        <p:nvSpPr>
          <p:cNvPr id="77" name="Text 69"/>
          <p:cNvSpPr/>
          <p:nvPr/>
        </p:nvSpPr>
        <p:spPr>
          <a:xfrm>
            <a:off x="2362200" y="2676525"/>
            <a:ext cx="2590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District</a:t>
            </a:r>
            <a:endParaRPr lang="en-US" sz="600" dirty="0"/>
          </a:p>
        </p:txBody>
      </p:sp>
      <p:sp>
        <p:nvSpPr>
          <p:cNvPr id="78" name="Text 70"/>
          <p:cNvSpPr/>
          <p:nvPr/>
        </p:nvSpPr>
        <p:spPr>
          <a:xfrm>
            <a:off x="2362200" y="2295525"/>
            <a:ext cx="761479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Select  your  state</a:t>
            </a:r>
            <a:endParaRPr lang="en-US" sz="600" dirty="0"/>
          </a:p>
        </p:txBody>
      </p:sp>
      <p:sp>
        <p:nvSpPr>
          <p:cNvPr id="79" name="Text 71"/>
          <p:cNvSpPr/>
          <p:nvPr/>
        </p:nvSpPr>
        <p:spPr>
          <a:xfrm>
            <a:off x="2362200" y="2143125"/>
            <a:ext cx="2590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State</a:t>
            </a:r>
            <a:endParaRPr lang="en-US" sz="600" dirty="0"/>
          </a:p>
        </p:txBody>
      </p:sp>
      <p:sp>
        <p:nvSpPr>
          <p:cNvPr id="80" name="Text 72"/>
          <p:cNvSpPr/>
          <p:nvPr/>
        </p:nvSpPr>
        <p:spPr>
          <a:xfrm>
            <a:off x="2438400" y="1838325"/>
            <a:ext cx="822722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Enter  your age</a:t>
            </a:r>
            <a:endParaRPr lang="en-US" sz="600" dirty="0"/>
          </a:p>
        </p:txBody>
      </p:sp>
      <p:sp>
        <p:nvSpPr>
          <p:cNvPr id="81" name="Text 73"/>
          <p:cNvSpPr/>
          <p:nvPr/>
        </p:nvSpPr>
        <p:spPr>
          <a:xfrm>
            <a:off x="2362200" y="1609725"/>
            <a:ext cx="2590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Age</a:t>
            </a:r>
            <a:endParaRPr lang="en-US" sz="600" dirty="0"/>
          </a:p>
        </p:txBody>
      </p:sp>
      <p:sp>
        <p:nvSpPr>
          <p:cNvPr id="82" name="Text 74"/>
          <p:cNvSpPr/>
          <p:nvPr/>
        </p:nvSpPr>
        <p:spPr>
          <a:xfrm>
            <a:off x="2438400" y="1304925"/>
            <a:ext cx="100645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Enter  your full name</a:t>
            </a:r>
            <a:endParaRPr lang="en-US" sz="600" dirty="0"/>
          </a:p>
        </p:txBody>
      </p:sp>
      <p:sp>
        <p:nvSpPr>
          <p:cNvPr id="83" name="Text 75"/>
          <p:cNvSpPr/>
          <p:nvPr/>
        </p:nvSpPr>
        <p:spPr>
          <a:xfrm>
            <a:off x="2362200" y="1076325"/>
            <a:ext cx="2590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Name</a:t>
            </a:r>
            <a:endParaRPr lang="en-US" sz="600" dirty="0"/>
          </a:p>
        </p:txBody>
      </p:sp>
      <p:sp>
        <p:nvSpPr>
          <p:cNvPr id="84" name="Text 76"/>
          <p:cNvSpPr/>
          <p:nvPr/>
        </p:nvSpPr>
        <p:spPr>
          <a:xfrm>
            <a:off x="2362200" y="752475"/>
            <a:ext cx="31194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Government Scheme Matchmaker AI</a:t>
            </a:r>
            <a:endParaRPr lang="en-US" sz="1200" dirty="0"/>
          </a:p>
        </p:txBody>
      </p:sp>
      <p:sp>
        <p:nvSpPr>
          <p:cNvPr id="85" name="Text 77"/>
          <p:cNvSpPr/>
          <p:nvPr/>
        </p:nvSpPr>
        <p:spPr>
          <a:xfrm>
            <a:off x="6829425" y="278606"/>
            <a:ext cx="71437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Support</a:t>
            </a:r>
            <a:endParaRPr lang="en-US" sz="525" dirty="0"/>
          </a:p>
        </p:txBody>
      </p:sp>
      <p:sp>
        <p:nvSpPr>
          <p:cNvPr id="86" name="Text 78"/>
          <p:cNvSpPr/>
          <p:nvPr/>
        </p:nvSpPr>
        <p:spPr>
          <a:xfrm>
            <a:off x="6319838" y="278606"/>
            <a:ext cx="7953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525" dirty="0"/>
          </a:p>
        </p:txBody>
      </p:sp>
      <p:sp>
        <p:nvSpPr>
          <p:cNvPr id="87" name="Text 79"/>
          <p:cNvSpPr/>
          <p:nvPr/>
        </p:nvSpPr>
        <p:spPr>
          <a:xfrm>
            <a:off x="5857875" y="278606"/>
            <a:ext cx="747712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Schemes</a:t>
            </a:r>
            <a:endParaRPr lang="en-US" sz="525" dirty="0"/>
          </a:p>
        </p:txBody>
      </p:sp>
      <p:sp>
        <p:nvSpPr>
          <p:cNvPr id="88" name="Text 80"/>
          <p:cNvSpPr/>
          <p:nvPr/>
        </p:nvSpPr>
        <p:spPr>
          <a:xfrm>
            <a:off x="5500688" y="278606"/>
            <a:ext cx="6429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Home</a:t>
            </a:r>
            <a:endParaRPr lang="en-US" sz="525" dirty="0"/>
          </a:p>
        </p:txBody>
      </p:sp>
      <p:sp>
        <p:nvSpPr>
          <p:cNvPr id="89" name="Text 81"/>
          <p:cNvSpPr/>
          <p:nvPr/>
        </p:nvSpPr>
        <p:spPr>
          <a:xfrm>
            <a:off x="1866900" y="273844"/>
            <a:ext cx="1157288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3"/>
              </a:lnSpc>
              <a:buNone/>
            </a:pPr>
            <a:r>
              <a:rPr lang="en-US" sz="675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SchemeMatch AI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214313"/>
            <a:ext cx="5257800" cy="47482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" y="214313"/>
            <a:ext cx="5257800" cy="53625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214313"/>
            <a:ext cx="5257800" cy="536257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1524000" y="214313"/>
            <a:ext cx="5257800" cy="309563"/>
          </a:xfrm>
          <a:prstGeom prst="rect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523875"/>
            <a:ext cx="5257800" cy="505301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0" y="619125"/>
            <a:ext cx="3733800" cy="486251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286000" y="619125"/>
            <a:ext cx="3733800" cy="500063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286000" y="1119188"/>
            <a:ext cx="3733800" cy="1090613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286000" y="2209800"/>
            <a:ext cx="3733800" cy="1090613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2286000" y="3300413"/>
            <a:ext cx="3733800" cy="109061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2286000" y="4391025"/>
            <a:ext cx="3733800" cy="1090613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2362200" y="4467225"/>
            <a:ext cx="4419600" cy="938213"/>
          </a:xfrm>
          <a:prstGeom prst="roundRect">
            <a:avLst>
              <a:gd name="adj" fmla="val 7797"/>
            </a:avLst>
          </a:prstGeom>
          <a:solidFill>
            <a:srgbClr val="F7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4543425"/>
            <a:ext cx="2795588" cy="78581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2438400" y="4543425"/>
            <a:ext cx="2795588" cy="314325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2438400" y="4933950"/>
            <a:ext cx="495300" cy="152400"/>
          </a:xfrm>
          <a:prstGeom prst="roundRect">
            <a:avLst>
              <a:gd name="adj" fmla="val 48000"/>
            </a:avLst>
          </a:prstGeom>
          <a:solidFill>
            <a:srgbClr val="E8EDF2"/>
          </a:solidFill>
          <a:ln/>
        </p:spPr>
      </p:sp>
      <p:sp>
        <p:nvSpPr>
          <p:cNvPr id="17" name="Shape 15"/>
          <p:cNvSpPr/>
          <p:nvPr/>
        </p:nvSpPr>
        <p:spPr>
          <a:xfrm>
            <a:off x="2514600" y="4960144"/>
            <a:ext cx="342900" cy="100013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2438400" y="4543425"/>
            <a:ext cx="2795588" cy="9525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2438400" y="4657725"/>
            <a:ext cx="2795588" cy="200025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2362200" y="3376613"/>
            <a:ext cx="4419600" cy="938213"/>
          </a:xfrm>
          <a:prstGeom prst="roundRect">
            <a:avLst>
              <a:gd name="adj" fmla="val 7797"/>
            </a:avLst>
          </a:prstGeom>
          <a:solidFill>
            <a:srgbClr val="F7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3452813"/>
            <a:ext cx="2795588" cy="785813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2438400" y="3452813"/>
            <a:ext cx="2795588" cy="314325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2438400" y="3843338"/>
            <a:ext cx="509587" cy="152400"/>
          </a:xfrm>
          <a:prstGeom prst="roundRect">
            <a:avLst>
              <a:gd name="adj" fmla="val 48000"/>
            </a:avLst>
          </a:prstGeom>
          <a:solidFill>
            <a:srgbClr val="E8EDF2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3869531"/>
            <a:ext cx="357188" cy="100013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2438400" y="3452813"/>
            <a:ext cx="2795588" cy="9525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2438400" y="3567113"/>
            <a:ext cx="2795588" cy="200025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2362200" y="2286000"/>
            <a:ext cx="4419600" cy="938213"/>
          </a:xfrm>
          <a:prstGeom prst="roundRect">
            <a:avLst>
              <a:gd name="adj" fmla="val 7797"/>
            </a:avLst>
          </a:prstGeom>
          <a:solidFill>
            <a:srgbClr val="F7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2362200"/>
            <a:ext cx="2795588" cy="785813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2438400" y="2362200"/>
            <a:ext cx="2795588" cy="314325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2438400" y="2752725"/>
            <a:ext cx="495300" cy="152400"/>
          </a:xfrm>
          <a:prstGeom prst="roundRect">
            <a:avLst>
              <a:gd name="adj" fmla="val 48000"/>
            </a:avLst>
          </a:prstGeom>
          <a:solidFill>
            <a:srgbClr val="E8EDF2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2778919"/>
            <a:ext cx="342900" cy="100013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2438400" y="2362200"/>
            <a:ext cx="2795588" cy="9525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2438400" y="2476500"/>
            <a:ext cx="2795588" cy="200025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2362200" y="1195388"/>
            <a:ext cx="4419600" cy="938213"/>
          </a:xfrm>
          <a:prstGeom prst="roundRect">
            <a:avLst>
              <a:gd name="adj" fmla="val 7797"/>
            </a:avLst>
          </a:prstGeom>
          <a:solidFill>
            <a:srgbClr val="F7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1271588"/>
            <a:ext cx="2795588" cy="785813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2438400" y="1271588"/>
            <a:ext cx="2795588" cy="314325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2438400" y="1662113"/>
            <a:ext cx="509587" cy="152400"/>
          </a:xfrm>
          <a:prstGeom prst="roundRect">
            <a:avLst>
              <a:gd name="adj" fmla="val 48000"/>
            </a:avLst>
          </a:prstGeom>
          <a:solidFill>
            <a:srgbClr val="E8EDF2"/>
          </a:solidFill>
          <a:ln/>
        </p:spPr>
      </p:sp>
      <p:sp>
        <p:nvSpPr>
          <p:cNvPr id="38" name="Shape 36"/>
          <p:cNvSpPr/>
          <p:nvPr/>
        </p:nvSpPr>
        <p:spPr>
          <a:xfrm>
            <a:off x="2514600" y="1688306"/>
            <a:ext cx="357188" cy="100013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2438400" y="1271588"/>
            <a:ext cx="2795588" cy="95250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2438400" y="1385888"/>
            <a:ext cx="2795588" cy="200025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2362200" y="695325"/>
            <a:ext cx="3224213" cy="347663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2362200" y="695325"/>
            <a:ext cx="3224213" cy="190500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2362200" y="942975"/>
            <a:ext cx="3219450" cy="100013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1714500" y="311944"/>
            <a:ext cx="2152650" cy="109538"/>
          </a:xfrm>
          <a:prstGeom prst="rect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3867150" y="271463"/>
            <a:ext cx="2724150" cy="190500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5486400" y="271463"/>
            <a:ext cx="762000" cy="190500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5486400" y="271463"/>
            <a:ext cx="762000" cy="190500"/>
          </a:xfrm>
          <a:prstGeom prst="roundRect">
            <a:avLst>
              <a:gd name="adj" fmla="val 38400"/>
            </a:avLst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5486400" y="271463"/>
            <a:ext cx="190500" cy="190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9" name="Shape 47"/>
          <p:cNvSpPr/>
          <p:nvPr/>
        </p:nvSpPr>
        <p:spPr>
          <a:xfrm>
            <a:off x="5676900" y="271463"/>
            <a:ext cx="571500" cy="190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50" name="Shape 48"/>
          <p:cNvSpPr/>
          <p:nvPr/>
        </p:nvSpPr>
        <p:spPr>
          <a:xfrm>
            <a:off x="5562600" y="309563"/>
            <a:ext cx="114300" cy="114300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1714500" y="311944"/>
            <a:ext cx="852488" cy="109538"/>
          </a:xfrm>
          <a:prstGeom prst="rect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2719388" y="316706"/>
            <a:ext cx="1147763" cy="100013"/>
          </a:xfrm>
          <a:prstGeom prst="rect">
            <a:avLst/>
          </a:prstGeom>
          <a:noFill/>
          <a:ln/>
        </p:spPr>
      </p:sp>
      <p:sp>
        <p:nvSpPr>
          <p:cNvPr id="53" name="Shape 51"/>
          <p:cNvSpPr/>
          <p:nvPr/>
        </p:nvSpPr>
        <p:spPr>
          <a:xfrm>
            <a:off x="2719388" y="316706"/>
            <a:ext cx="338138" cy="100013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3228975" y="316706"/>
            <a:ext cx="209550" cy="100013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3609975" y="316706"/>
            <a:ext cx="257175" cy="100013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1714500" y="328613"/>
            <a:ext cx="76200" cy="76200"/>
          </a:xfrm>
          <a:prstGeom prst="rect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1866900" y="311944"/>
            <a:ext cx="700088" cy="109538"/>
          </a:xfrm>
          <a:prstGeom prst="rect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1714500" y="328613"/>
            <a:ext cx="76200" cy="76200"/>
          </a:xfrm>
          <a:prstGeom prst="rect">
            <a:avLst/>
          </a:prstGeom>
          <a:noFill/>
          <a:ln/>
        </p:spPr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988" y="4543425"/>
            <a:ext cx="785813" cy="600075"/>
          </a:xfrm>
          <a:prstGeom prst="rect">
            <a:avLst/>
          </a:prstGeom>
        </p:spPr>
      </p:pic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988" y="3452813"/>
            <a:ext cx="785813" cy="785813"/>
          </a:xfrm>
          <a:prstGeom prst="rect">
            <a:avLst/>
          </a:prstGeom>
        </p:spPr>
      </p:pic>
      <p:pic>
        <p:nvPicPr>
          <p:cNvPr id="6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988" y="2362200"/>
            <a:ext cx="785813" cy="785813"/>
          </a:xfrm>
          <a:prstGeom prst="rect">
            <a:avLst/>
          </a:prstGeom>
        </p:spPr>
      </p:pic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988" y="1271588"/>
            <a:ext cx="785813" cy="785813"/>
          </a:xfrm>
          <a:prstGeom prst="rect">
            <a:avLst/>
          </a:prstGeom>
        </p:spPr>
      </p:pic>
      <p:pic>
        <p:nvPicPr>
          <p:cNvPr id="6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71463"/>
            <a:ext cx="190500" cy="190500"/>
          </a:xfrm>
          <a:prstGeom prst="rect">
            <a:avLst/>
          </a:prstGeom>
        </p:spPr>
      </p:pic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2600" y="309563"/>
            <a:ext cx="92966" cy="92969"/>
          </a:xfrm>
          <a:prstGeom prst="rect">
            <a:avLst/>
          </a:prstGeom>
        </p:spPr>
      </p:pic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328613"/>
            <a:ext cx="63503" cy="635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2514600" y="4960144"/>
            <a:ext cx="800100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Apply Now</a:t>
            </a:r>
            <a:endParaRPr lang="en-US" sz="525" dirty="0"/>
          </a:p>
        </p:txBody>
      </p:sp>
      <p:sp>
        <p:nvSpPr>
          <p:cNvPr id="67" name="Text 58"/>
          <p:cNvSpPr/>
          <p:nvPr/>
        </p:nvSpPr>
        <p:spPr>
          <a:xfrm>
            <a:off x="2438400" y="4657725"/>
            <a:ext cx="325278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fund aimed at improving healthcare access in rural areas by providing financial support to healthcare professionals and facilities.</a:t>
            </a:r>
            <a:endParaRPr lang="en-US" sz="525" dirty="0"/>
          </a:p>
        </p:txBody>
      </p:sp>
      <p:sp>
        <p:nvSpPr>
          <p:cNvPr id="68" name="Text 59"/>
          <p:cNvSpPr/>
          <p:nvPr/>
        </p:nvSpPr>
        <p:spPr>
          <a:xfrm>
            <a:off x="2438400" y="4543425"/>
            <a:ext cx="3252788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Rural Healthcare Access Fund</a:t>
            </a:r>
            <a:endParaRPr lang="en-US" sz="600" dirty="0"/>
          </a:p>
        </p:txBody>
      </p:sp>
      <p:sp>
        <p:nvSpPr>
          <p:cNvPr id="69" name="Text 60"/>
          <p:cNvSpPr/>
          <p:nvPr/>
        </p:nvSpPr>
        <p:spPr>
          <a:xfrm>
            <a:off x="2514600" y="3869531"/>
            <a:ext cx="8143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Learn More</a:t>
            </a:r>
            <a:endParaRPr lang="en-US" sz="525" dirty="0"/>
          </a:p>
        </p:txBody>
      </p:sp>
      <p:sp>
        <p:nvSpPr>
          <p:cNvPr id="70" name="Text 61"/>
          <p:cNvSpPr/>
          <p:nvPr/>
        </p:nvSpPr>
        <p:spPr>
          <a:xfrm>
            <a:off x="2438400" y="3567113"/>
            <a:ext cx="325278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Offers grants for individuals seeking to upgrade their skills through certified training programs. Covers a wide range of courses from digital marketing to data science.</a:t>
            </a:r>
            <a:endParaRPr lang="en-US" sz="525" dirty="0"/>
          </a:p>
        </p:txBody>
      </p:sp>
      <p:sp>
        <p:nvSpPr>
          <p:cNvPr id="71" name="Text 62"/>
          <p:cNvSpPr/>
          <p:nvPr/>
        </p:nvSpPr>
        <p:spPr>
          <a:xfrm>
            <a:off x="2438400" y="3452813"/>
            <a:ext cx="3252788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Skill Development Grant</a:t>
            </a:r>
            <a:endParaRPr lang="en-US" sz="600" dirty="0"/>
          </a:p>
        </p:txBody>
      </p:sp>
      <p:sp>
        <p:nvSpPr>
          <p:cNvPr id="72" name="Text 63"/>
          <p:cNvSpPr/>
          <p:nvPr/>
        </p:nvSpPr>
        <p:spPr>
          <a:xfrm>
            <a:off x="2514600" y="2778919"/>
            <a:ext cx="800100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Apply Now</a:t>
            </a:r>
            <a:endParaRPr lang="en-US" sz="525" dirty="0"/>
          </a:p>
        </p:txBody>
      </p:sp>
      <p:sp>
        <p:nvSpPr>
          <p:cNvPr id="73" name="Text 64"/>
          <p:cNvSpPr/>
          <p:nvPr/>
        </p:nvSpPr>
        <p:spPr>
          <a:xfrm>
            <a:off x="2438400" y="2476500"/>
            <a:ext cx="325278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Provides subsidies for installing solar panels and other renewable energy systems in homes and businesses. Eligibility requires a property assessment.</a:t>
            </a:r>
            <a:endParaRPr lang="en-US" sz="525" dirty="0"/>
          </a:p>
        </p:txBody>
      </p:sp>
      <p:sp>
        <p:nvSpPr>
          <p:cNvPr id="74" name="Text 65"/>
          <p:cNvSpPr/>
          <p:nvPr/>
        </p:nvSpPr>
        <p:spPr>
          <a:xfrm>
            <a:off x="2438400" y="2362200"/>
            <a:ext cx="3252788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Green Energy Incentive Program</a:t>
            </a:r>
            <a:endParaRPr lang="en-US" sz="600" dirty="0"/>
          </a:p>
        </p:txBody>
      </p:sp>
      <p:sp>
        <p:nvSpPr>
          <p:cNvPr id="75" name="Text 66"/>
          <p:cNvSpPr/>
          <p:nvPr/>
        </p:nvSpPr>
        <p:spPr>
          <a:xfrm>
            <a:off x="2514600" y="1688306"/>
            <a:ext cx="8143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Learn More</a:t>
            </a:r>
            <a:endParaRPr lang="en-US" sz="525" dirty="0"/>
          </a:p>
        </p:txBody>
      </p:sp>
      <p:sp>
        <p:nvSpPr>
          <p:cNvPr id="76" name="Text 67"/>
          <p:cNvSpPr/>
          <p:nvPr/>
        </p:nvSpPr>
        <p:spPr>
          <a:xfrm>
            <a:off x="2438400" y="1385888"/>
            <a:ext cx="325278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scheme offers financial assistance and mentorship to small businesses in the tech sector. Benefits include low-interest loans and access to industry experts.</a:t>
            </a:r>
            <a:endParaRPr lang="en-US" sz="525" dirty="0"/>
          </a:p>
        </p:txBody>
      </p:sp>
      <p:sp>
        <p:nvSpPr>
          <p:cNvPr id="77" name="Text 68"/>
          <p:cNvSpPr/>
          <p:nvPr/>
        </p:nvSpPr>
        <p:spPr>
          <a:xfrm>
            <a:off x="2438400" y="1271588"/>
            <a:ext cx="3252788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Small Business Support Initiative</a:t>
            </a:r>
            <a:endParaRPr lang="en-US" sz="600" dirty="0"/>
          </a:p>
        </p:txBody>
      </p:sp>
      <p:sp>
        <p:nvSpPr>
          <p:cNvPr id="78" name="Text 69"/>
          <p:cNvSpPr/>
          <p:nvPr/>
        </p:nvSpPr>
        <p:spPr>
          <a:xfrm>
            <a:off x="2362200" y="942975"/>
            <a:ext cx="3676650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Based on your profile, we've identified the following government schemes that may be beneficial for you.</a:t>
            </a:r>
            <a:endParaRPr lang="en-US" sz="525" dirty="0"/>
          </a:p>
        </p:txBody>
      </p:sp>
      <p:sp>
        <p:nvSpPr>
          <p:cNvPr id="79" name="Text 70"/>
          <p:cNvSpPr/>
          <p:nvPr/>
        </p:nvSpPr>
        <p:spPr>
          <a:xfrm>
            <a:off x="2362200" y="695325"/>
            <a:ext cx="3681412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Scheme Recommendations</a:t>
            </a:r>
            <a:endParaRPr lang="en-US" sz="1200" dirty="0"/>
          </a:p>
        </p:txBody>
      </p:sp>
      <p:sp>
        <p:nvSpPr>
          <p:cNvPr id="80" name="Text 71"/>
          <p:cNvSpPr/>
          <p:nvPr/>
        </p:nvSpPr>
        <p:spPr>
          <a:xfrm>
            <a:off x="5715000" y="309563"/>
            <a:ext cx="745406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Search</a:t>
            </a:r>
            <a:endParaRPr lang="en-US" sz="600" dirty="0"/>
          </a:p>
        </p:txBody>
      </p:sp>
      <p:sp>
        <p:nvSpPr>
          <p:cNvPr id="81" name="Text 72"/>
          <p:cNvSpPr/>
          <p:nvPr/>
        </p:nvSpPr>
        <p:spPr>
          <a:xfrm>
            <a:off x="3609975" y="316706"/>
            <a:ext cx="71437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Support</a:t>
            </a:r>
            <a:endParaRPr lang="en-US" sz="525" dirty="0"/>
          </a:p>
        </p:txBody>
      </p:sp>
      <p:sp>
        <p:nvSpPr>
          <p:cNvPr id="82" name="Text 73"/>
          <p:cNvSpPr/>
          <p:nvPr/>
        </p:nvSpPr>
        <p:spPr>
          <a:xfrm>
            <a:off x="3228975" y="316706"/>
            <a:ext cx="666750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Profile</a:t>
            </a:r>
            <a:endParaRPr lang="en-US" sz="525" dirty="0"/>
          </a:p>
        </p:txBody>
      </p:sp>
      <p:sp>
        <p:nvSpPr>
          <p:cNvPr id="83" name="Text 74"/>
          <p:cNvSpPr/>
          <p:nvPr/>
        </p:nvSpPr>
        <p:spPr>
          <a:xfrm>
            <a:off x="2719388" y="316706"/>
            <a:ext cx="7953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525" dirty="0"/>
          </a:p>
        </p:txBody>
      </p:sp>
      <p:sp>
        <p:nvSpPr>
          <p:cNvPr id="84" name="Text 75"/>
          <p:cNvSpPr/>
          <p:nvPr/>
        </p:nvSpPr>
        <p:spPr>
          <a:xfrm>
            <a:off x="1866900" y="311944"/>
            <a:ext cx="1157288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3"/>
              </a:lnSpc>
              <a:buNone/>
            </a:pPr>
            <a:r>
              <a:rPr lang="en-US" sz="675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SchemeMatch AI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276225"/>
            <a:ext cx="6472238" cy="4548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" y="276225"/>
            <a:ext cx="6472238" cy="108966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276225"/>
            <a:ext cx="6472238" cy="108966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1524000" y="276225"/>
            <a:ext cx="6472238" cy="309563"/>
          </a:xfrm>
          <a:prstGeom prst="rect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585788"/>
            <a:ext cx="6472238" cy="10587038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474119" y="681038"/>
            <a:ext cx="4572000" cy="1040606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474119" y="681038"/>
            <a:ext cx="4572000" cy="500063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474119" y="1181100"/>
            <a:ext cx="4572000" cy="1090613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474119" y="2271713"/>
            <a:ext cx="4572000" cy="223838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2474119" y="2495550"/>
            <a:ext cx="4572000" cy="36195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2474119" y="2857500"/>
            <a:ext cx="2286000" cy="80010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2474119" y="3657600"/>
            <a:ext cx="4572000" cy="1090613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2474119" y="4748213"/>
            <a:ext cx="4572000" cy="223838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2474119" y="4972050"/>
            <a:ext cx="4572000" cy="36195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2474119" y="5334000"/>
            <a:ext cx="2286000" cy="8001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2474119" y="6134100"/>
            <a:ext cx="4572000" cy="1090613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2474119" y="7224713"/>
            <a:ext cx="4572000" cy="223838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2474119" y="7448550"/>
            <a:ext cx="4572000" cy="36195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2474119" y="7810500"/>
            <a:ext cx="2286000" cy="8001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2474119" y="8610600"/>
            <a:ext cx="4572000" cy="1090613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2474119" y="9701213"/>
            <a:ext cx="4572000" cy="223838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2474119" y="9925050"/>
            <a:ext cx="4572000" cy="36195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2474119" y="10287000"/>
            <a:ext cx="2286000" cy="800100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2550319" y="10344150"/>
            <a:ext cx="2133600" cy="6858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2550319" y="10001250"/>
            <a:ext cx="594271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1739" y="10001250"/>
            <a:ext cx="434504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93393" y="10001250"/>
            <a:ext cx="398711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49254" y="10001250"/>
            <a:ext cx="563612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0016" y="10001250"/>
            <a:ext cx="723379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0319" y="8686800"/>
            <a:ext cx="4419600" cy="938213"/>
          </a:xfrm>
          <a:prstGeom prst="roundRect">
            <a:avLst>
              <a:gd name="adj" fmla="val 7797"/>
            </a:avLst>
          </a:prstGeom>
          <a:solidFill>
            <a:srgbClr val="F7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2626519" y="8763000"/>
            <a:ext cx="2795588" cy="785813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2626519" y="8763000"/>
            <a:ext cx="2795588" cy="314325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2626519" y="9153525"/>
            <a:ext cx="495300" cy="152400"/>
          </a:xfrm>
          <a:prstGeom prst="roundRect">
            <a:avLst>
              <a:gd name="adj" fmla="val 48000"/>
            </a:avLst>
          </a:prstGeom>
          <a:solidFill>
            <a:srgbClr val="E8EDF2"/>
          </a:solidFill>
          <a:ln/>
        </p:spPr>
      </p:sp>
      <p:sp>
        <p:nvSpPr>
          <p:cNvPr id="35" name="Shape 33"/>
          <p:cNvSpPr/>
          <p:nvPr/>
        </p:nvSpPr>
        <p:spPr>
          <a:xfrm>
            <a:off x="2702719" y="9179719"/>
            <a:ext cx="342900" cy="100013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2626519" y="8763000"/>
            <a:ext cx="2795588" cy="95250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2626519" y="8877300"/>
            <a:ext cx="2795588" cy="200025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2550319" y="7867650"/>
            <a:ext cx="2133600" cy="68580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2550319" y="7524750"/>
            <a:ext cx="594271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1739" y="7524750"/>
            <a:ext cx="434504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93393" y="7524750"/>
            <a:ext cx="398711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49254" y="7524750"/>
            <a:ext cx="563612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0016" y="7524750"/>
            <a:ext cx="723379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50319" y="6210300"/>
            <a:ext cx="4419600" cy="938213"/>
          </a:xfrm>
          <a:prstGeom prst="roundRect">
            <a:avLst>
              <a:gd name="adj" fmla="val 7797"/>
            </a:avLst>
          </a:prstGeom>
          <a:solidFill>
            <a:srgbClr val="F7FAFC"/>
          </a:solidFill>
          <a:ln/>
        </p:spPr>
      </p:sp>
      <p:sp>
        <p:nvSpPr>
          <p:cNvPr id="45" name="Shape 43"/>
          <p:cNvSpPr/>
          <p:nvPr/>
        </p:nvSpPr>
        <p:spPr>
          <a:xfrm>
            <a:off x="2626519" y="6286500"/>
            <a:ext cx="2795588" cy="785813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2626519" y="6286500"/>
            <a:ext cx="2795588" cy="314325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2626519" y="6677025"/>
            <a:ext cx="509587" cy="152400"/>
          </a:xfrm>
          <a:prstGeom prst="roundRect">
            <a:avLst>
              <a:gd name="adj" fmla="val 48000"/>
            </a:avLst>
          </a:prstGeom>
          <a:solidFill>
            <a:srgbClr val="E8EDF2"/>
          </a:solidFill>
          <a:ln/>
        </p:spPr>
      </p:sp>
      <p:sp>
        <p:nvSpPr>
          <p:cNvPr id="48" name="Shape 46"/>
          <p:cNvSpPr/>
          <p:nvPr/>
        </p:nvSpPr>
        <p:spPr>
          <a:xfrm>
            <a:off x="2702719" y="6703219"/>
            <a:ext cx="357188" cy="100013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2626519" y="6286500"/>
            <a:ext cx="2795588" cy="95250"/>
          </a:xfrm>
          <a:prstGeom prst="rect">
            <a:avLst/>
          </a:prstGeom>
          <a:noFill/>
          <a:ln/>
        </p:spPr>
      </p:sp>
      <p:sp>
        <p:nvSpPr>
          <p:cNvPr id="50" name="Shape 48"/>
          <p:cNvSpPr/>
          <p:nvPr/>
        </p:nvSpPr>
        <p:spPr>
          <a:xfrm>
            <a:off x="2626519" y="6400800"/>
            <a:ext cx="2795588" cy="200025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2550319" y="5391150"/>
            <a:ext cx="2133600" cy="685800"/>
          </a:xfrm>
          <a:prstGeom prst="rect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2550319" y="5048250"/>
            <a:ext cx="594271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1739" y="5048250"/>
            <a:ext cx="434504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93393" y="5048250"/>
            <a:ext cx="398711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49254" y="5048250"/>
            <a:ext cx="563612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70016" y="5048250"/>
            <a:ext cx="723379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50319" y="3733800"/>
            <a:ext cx="4419600" cy="938213"/>
          </a:xfrm>
          <a:prstGeom prst="roundRect">
            <a:avLst>
              <a:gd name="adj" fmla="val 7797"/>
            </a:avLst>
          </a:prstGeom>
          <a:solidFill>
            <a:srgbClr val="F7FAFC"/>
          </a:solidFill>
          <a:ln/>
        </p:spPr>
      </p:sp>
      <p:sp>
        <p:nvSpPr>
          <p:cNvPr id="58" name="Shape 56"/>
          <p:cNvSpPr/>
          <p:nvPr/>
        </p:nvSpPr>
        <p:spPr>
          <a:xfrm>
            <a:off x="2626519" y="3810000"/>
            <a:ext cx="2795588" cy="785813"/>
          </a:xfrm>
          <a:prstGeom prst="rect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2626519" y="3810000"/>
            <a:ext cx="2795588" cy="314325"/>
          </a:xfrm>
          <a:prstGeom prst="rect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2626519" y="4200525"/>
            <a:ext cx="495300" cy="152400"/>
          </a:xfrm>
          <a:prstGeom prst="roundRect">
            <a:avLst>
              <a:gd name="adj" fmla="val 48000"/>
            </a:avLst>
          </a:prstGeom>
          <a:solidFill>
            <a:srgbClr val="E8EDF2"/>
          </a:solidFill>
          <a:ln/>
        </p:spPr>
      </p:sp>
      <p:sp>
        <p:nvSpPr>
          <p:cNvPr id="61" name="Shape 59"/>
          <p:cNvSpPr/>
          <p:nvPr/>
        </p:nvSpPr>
        <p:spPr>
          <a:xfrm>
            <a:off x="2702719" y="4226719"/>
            <a:ext cx="342900" cy="100013"/>
          </a:xfrm>
          <a:prstGeom prst="rect">
            <a:avLst/>
          </a:prstGeom>
          <a:noFill/>
          <a:ln/>
        </p:spPr>
      </p:sp>
      <p:sp>
        <p:nvSpPr>
          <p:cNvPr id="62" name="Shape 60"/>
          <p:cNvSpPr/>
          <p:nvPr/>
        </p:nvSpPr>
        <p:spPr>
          <a:xfrm>
            <a:off x="2626519" y="3810000"/>
            <a:ext cx="2795588" cy="95250"/>
          </a:xfrm>
          <a:prstGeom prst="rect">
            <a:avLst/>
          </a:prstGeom>
          <a:noFill/>
          <a:ln/>
        </p:spPr>
      </p:sp>
      <p:sp>
        <p:nvSpPr>
          <p:cNvPr id="63" name="Shape 61"/>
          <p:cNvSpPr/>
          <p:nvPr/>
        </p:nvSpPr>
        <p:spPr>
          <a:xfrm>
            <a:off x="2626519" y="3924300"/>
            <a:ext cx="2795588" cy="200025"/>
          </a:xfrm>
          <a:prstGeom prst="rect">
            <a:avLst/>
          </a:prstGeom>
          <a:noFill/>
          <a:ln/>
        </p:spPr>
      </p:sp>
      <p:sp>
        <p:nvSpPr>
          <p:cNvPr id="64" name="Shape 62"/>
          <p:cNvSpPr/>
          <p:nvPr/>
        </p:nvSpPr>
        <p:spPr>
          <a:xfrm>
            <a:off x="2550319" y="2914650"/>
            <a:ext cx="2133600" cy="685800"/>
          </a:xfrm>
          <a:prstGeom prst="rect">
            <a:avLst/>
          </a:prstGeom>
          <a:noFill/>
          <a:ln/>
        </p:spPr>
      </p:sp>
      <p:sp>
        <p:nvSpPr>
          <p:cNvPr id="65" name="Shape 63"/>
          <p:cNvSpPr/>
          <p:nvPr/>
        </p:nvSpPr>
        <p:spPr>
          <a:xfrm>
            <a:off x="2550319" y="2571750"/>
            <a:ext cx="594271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1739" y="2571750"/>
            <a:ext cx="434504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93393" y="2571750"/>
            <a:ext cx="398711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49254" y="2571750"/>
            <a:ext cx="563612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70016" y="2571750"/>
            <a:ext cx="723379" cy="209550"/>
          </a:xfrm>
          <a:prstGeom prst="roundRect">
            <a:avLst>
              <a:gd name="adj" fmla="val 34909"/>
            </a:avLst>
          </a:prstGeom>
          <a:noFill/>
          <a:ln w="12700">
            <a:solidFill>
              <a:srgbClr val="D1DB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50319" y="1257300"/>
            <a:ext cx="4419600" cy="938213"/>
          </a:xfrm>
          <a:prstGeom prst="roundRect">
            <a:avLst>
              <a:gd name="adj" fmla="val 7797"/>
            </a:avLst>
          </a:prstGeom>
          <a:solidFill>
            <a:srgbClr val="F7FAFC"/>
          </a:solidFill>
          <a:ln/>
        </p:spPr>
      </p:sp>
      <p:sp>
        <p:nvSpPr>
          <p:cNvPr id="71" name="Shape 69"/>
          <p:cNvSpPr/>
          <p:nvPr/>
        </p:nvSpPr>
        <p:spPr>
          <a:xfrm>
            <a:off x="2626519" y="1333500"/>
            <a:ext cx="2795588" cy="785813"/>
          </a:xfrm>
          <a:prstGeom prst="rect">
            <a:avLst/>
          </a:prstGeom>
          <a:noFill/>
          <a:ln/>
        </p:spPr>
      </p:sp>
      <p:sp>
        <p:nvSpPr>
          <p:cNvPr id="72" name="Shape 70"/>
          <p:cNvSpPr/>
          <p:nvPr/>
        </p:nvSpPr>
        <p:spPr>
          <a:xfrm>
            <a:off x="2626519" y="1333500"/>
            <a:ext cx="2795588" cy="314325"/>
          </a:xfrm>
          <a:prstGeom prst="rect">
            <a:avLst/>
          </a:prstGeom>
          <a:noFill/>
          <a:ln/>
        </p:spPr>
      </p:sp>
      <p:sp>
        <p:nvSpPr>
          <p:cNvPr id="73" name="Shape 71"/>
          <p:cNvSpPr/>
          <p:nvPr/>
        </p:nvSpPr>
        <p:spPr>
          <a:xfrm>
            <a:off x="2626519" y="1724025"/>
            <a:ext cx="509587" cy="152400"/>
          </a:xfrm>
          <a:prstGeom prst="roundRect">
            <a:avLst>
              <a:gd name="adj" fmla="val 48000"/>
            </a:avLst>
          </a:prstGeom>
          <a:solidFill>
            <a:srgbClr val="E8EDF2"/>
          </a:solidFill>
          <a:ln/>
        </p:spPr>
      </p:sp>
      <p:sp>
        <p:nvSpPr>
          <p:cNvPr id="74" name="Shape 72"/>
          <p:cNvSpPr/>
          <p:nvPr/>
        </p:nvSpPr>
        <p:spPr>
          <a:xfrm>
            <a:off x="2702719" y="1750219"/>
            <a:ext cx="357188" cy="100013"/>
          </a:xfrm>
          <a:prstGeom prst="rect">
            <a:avLst/>
          </a:prstGeom>
          <a:noFill/>
          <a:ln/>
        </p:spPr>
      </p:sp>
      <p:sp>
        <p:nvSpPr>
          <p:cNvPr id="75" name="Shape 73"/>
          <p:cNvSpPr/>
          <p:nvPr/>
        </p:nvSpPr>
        <p:spPr>
          <a:xfrm>
            <a:off x="2626519" y="1333500"/>
            <a:ext cx="2795588" cy="95250"/>
          </a:xfrm>
          <a:prstGeom prst="rect">
            <a:avLst/>
          </a:prstGeom>
          <a:noFill/>
          <a:ln/>
        </p:spPr>
      </p:sp>
      <p:sp>
        <p:nvSpPr>
          <p:cNvPr id="76" name="Shape 74"/>
          <p:cNvSpPr/>
          <p:nvPr/>
        </p:nvSpPr>
        <p:spPr>
          <a:xfrm>
            <a:off x="2626519" y="1447800"/>
            <a:ext cx="2795588" cy="200025"/>
          </a:xfrm>
          <a:prstGeom prst="rect">
            <a:avLst/>
          </a:prstGeom>
          <a:noFill/>
          <a:ln/>
        </p:spPr>
      </p:sp>
      <p:sp>
        <p:nvSpPr>
          <p:cNvPr id="77" name="Shape 75"/>
          <p:cNvSpPr/>
          <p:nvPr/>
        </p:nvSpPr>
        <p:spPr>
          <a:xfrm>
            <a:off x="2550319" y="757238"/>
            <a:ext cx="3224213" cy="347663"/>
          </a:xfrm>
          <a:prstGeom prst="rect">
            <a:avLst/>
          </a:prstGeom>
          <a:noFill/>
          <a:ln/>
        </p:spPr>
      </p:sp>
      <p:sp>
        <p:nvSpPr>
          <p:cNvPr id="78" name="Shape 76"/>
          <p:cNvSpPr/>
          <p:nvPr/>
        </p:nvSpPr>
        <p:spPr>
          <a:xfrm>
            <a:off x="2550319" y="757238"/>
            <a:ext cx="3224213" cy="190500"/>
          </a:xfrm>
          <a:prstGeom prst="rect">
            <a:avLst/>
          </a:prstGeom>
          <a:noFill/>
          <a:ln/>
        </p:spPr>
      </p:sp>
      <p:sp>
        <p:nvSpPr>
          <p:cNvPr id="79" name="Shape 77"/>
          <p:cNvSpPr/>
          <p:nvPr/>
        </p:nvSpPr>
        <p:spPr>
          <a:xfrm>
            <a:off x="2550319" y="1004887"/>
            <a:ext cx="3219450" cy="100013"/>
          </a:xfrm>
          <a:prstGeom prst="rect">
            <a:avLst/>
          </a:prstGeom>
          <a:noFill/>
          <a:ln/>
        </p:spPr>
      </p:sp>
      <p:sp>
        <p:nvSpPr>
          <p:cNvPr id="80" name="Shape 78"/>
          <p:cNvSpPr/>
          <p:nvPr/>
        </p:nvSpPr>
        <p:spPr>
          <a:xfrm>
            <a:off x="1714500" y="373856"/>
            <a:ext cx="2152650" cy="109538"/>
          </a:xfrm>
          <a:prstGeom prst="rect">
            <a:avLst/>
          </a:prstGeom>
          <a:noFill/>
          <a:ln/>
        </p:spPr>
      </p:sp>
      <p:sp>
        <p:nvSpPr>
          <p:cNvPr id="81" name="Shape 79"/>
          <p:cNvSpPr/>
          <p:nvPr/>
        </p:nvSpPr>
        <p:spPr>
          <a:xfrm>
            <a:off x="3867150" y="333375"/>
            <a:ext cx="3938588" cy="190500"/>
          </a:xfrm>
          <a:prstGeom prst="rect">
            <a:avLst/>
          </a:prstGeom>
          <a:noFill/>
          <a:ln/>
        </p:spPr>
      </p:sp>
      <p:sp>
        <p:nvSpPr>
          <p:cNvPr id="82" name="Shape 80"/>
          <p:cNvSpPr/>
          <p:nvPr/>
        </p:nvSpPr>
        <p:spPr>
          <a:xfrm>
            <a:off x="6700838" y="333375"/>
            <a:ext cx="762000" cy="190500"/>
          </a:xfrm>
          <a:prstGeom prst="rect">
            <a:avLst/>
          </a:prstGeom>
          <a:noFill/>
          <a:ln/>
        </p:spPr>
      </p:sp>
      <p:sp>
        <p:nvSpPr>
          <p:cNvPr id="83" name="Shape 81"/>
          <p:cNvSpPr/>
          <p:nvPr/>
        </p:nvSpPr>
        <p:spPr>
          <a:xfrm>
            <a:off x="6700838" y="333375"/>
            <a:ext cx="762000" cy="190500"/>
          </a:xfrm>
          <a:prstGeom prst="roundRect">
            <a:avLst>
              <a:gd name="adj" fmla="val 38400"/>
            </a:avLst>
          </a:prstGeom>
          <a:noFill/>
          <a:ln/>
        </p:spPr>
      </p:sp>
      <p:sp>
        <p:nvSpPr>
          <p:cNvPr id="84" name="Shape 82"/>
          <p:cNvSpPr/>
          <p:nvPr/>
        </p:nvSpPr>
        <p:spPr>
          <a:xfrm>
            <a:off x="6700838" y="333375"/>
            <a:ext cx="190500" cy="190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85" name="Shape 83"/>
          <p:cNvSpPr/>
          <p:nvPr/>
        </p:nvSpPr>
        <p:spPr>
          <a:xfrm>
            <a:off x="6891338" y="333375"/>
            <a:ext cx="571500" cy="190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86" name="Shape 84"/>
          <p:cNvSpPr/>
          <p:nvPr/>
        </p:nvSpPr>
        <p:spPr>
          <a:xfrm>
            <a:off x="6777038" y="371475"/>
            <a:ext cx="114300" cy="114300"/>
          </a:xfrm>
          <a:prstGeom prst="rect">
            <a:avLst/>
          </a:prstGeom>
          <a:noFill/>
          <a:ln/>
        </p:spPr>
      </p:sp>
      <p:sp>
        <p:nvSpPr>
          <p:cNvPr id="87" name="Shape 85"/>
          <p:cNvSpPr/>
          <p:nvPr/>
        </p:nvSpPr>
        <p:spPr>
          <a:xfrm>
            <a:off x="1714500" y="373856"/>
            <a:ext cx="852488" cy="109538"/>
          </a:xfrm>
          <a:prstGeom prst="rect">
            <a:avLst/>
          </a:prstGeom>
          <a:noFill/>
          <a:ln/>
        </p:spPr>
      </p:sp>
      <p:sp>
        <p:nvSpPr>
          <p:cNvPr id="88" name="Shape 86"/>
          <p:cNvSpPr/>
          <p:nvPr/>
        </p:nvSpPr>
        <p:spPr>
          <a:xfrm>
            <a:off x="2719388" y="378619"/>
            <a:ext cx="1147763" cy="100013"/>
          </a:xfrm>
          <a:prstGeom prst="rect">
            <a:avLst/>
          </a:prstGeom>
          <a:noFill/>
          <a:ln/>
        </p:spPr>
      </p:sp>
      <p:sp>
        <p:nvSpPr>
          <p:cNvPr id="89" name="Shape 87"/>
          <p:cNvSpPr/>
          <p:nvPr/>
        </p:nvSpPr>
        <p:spPr>
          <a:xfrm>
            <a:off x="2719388" y="378619"/>
            <a:ext cx="338138" cy="100013"/>
          </a:xfrm>
          <a:prstGeom prst="rect">
            <a:avLst/>
          </a:prstGeom>
          <a:noFill/>
          <a:ln/>
        </p:spPr>
      </p:sp>
      <p:sp>
        <p:nvSpPr>
          <p:cNvPr id="90" name="Shape 88"/>
          <p:cNvSpPr/>
          <p:nvPr/>
        </p:nvSpPr>
        <p:spPr>
          <a:xfrm>
            <a:off x="3228975" y="378619"/>
            <a:ext cx="209550" cy="100013"/>
          </a:xfrm>
          <a:prstGeom prst="rect">
            <a:avLst/>
          </a:prstGeom>
          <a:noFill/>
          <a:ln/>
        </p:spPr>
      </p:sp>
      <p:sp>
        <p:nvSpPr>
          <p:cNvPr id="91" name="Shape 89"/>
          <p:cNvSpPr/>
          <p:nvPr/>
        </p:nvSpPr>
        <p:spPr>
          <a:xfrm>
            <a:off x="3609975" y="378619"/>
            <a:ext cx="257175" cy="100013"/>
          </a:xfrm>
          <a:prstGeom prst="rect">
            <a:avLst/>
          </a:prstGeom>
          <a:noFill/>
          <a:ln/>
        </p:spPr>
      </p:sp>
      <p:sp>
        <p:nvSpPr>
          <p:cNvPr id="92" name="Shape 90"/>
          <p:cNvSpPr/>
          <p:nvPr/>
        </p:nvSpPr>
        <p:spPr>
          <a:xfrm>
            <a:off x="1714500" y="390525"/>
            <a:ext cx="76200" cy="76200"/>
          </a:xfrm>
          <a:prstGeom prst="rect">
            <a:avLst/>
          </a:prstGeom>
          <a:noFill/>
          <a:ln/>
        </p:spPr>
      </p:sp>
      <p:sp>
        <p:nvSpPr>
          <p:cNvPr id="93" name="Shape 91"/>
          <p:cNvSpPr/>
          <p:nvPr/>
        </p:nvSpPr>
        <p:spPr>
          <a:xfrm>
            <a:off x="1866900" y="373856"/>
            <a:ext cx="700088" cy="109538"/>
          </a:xfrm>
          <a:prstGeom prst="rect">
            <a:avLst/>
          </a:prstGeom>
          <a:noFill/>
          <a:ln/>
        </p:spPr>
      </p:sp>
      <p:sp>
        <p:nvSpPr>
          <p:cNvPr id="94" name="Shape 92"/>
          <p:cNvSpPr/>
          <p:nvPr/>
        </p:nvSpPr>
        <p:spPr>
          <a:xfrm>
            <a:off x="1714500" y="390525"/>
            <a:ext cx="76200" cy="76200"/>
          </a:xfrm>
          <a:prstGeom prst="rect">
            <a:avLst/>
          </a:prstGeom>
          <a:noFill/>
          <a:ln/>
        </p:spPr>
      </p:sp>
      <p:pic>
        <p:nvPicPr>
          <p:cNvPr id="9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106" y="3810000"/>
            <a:ext cx="1471613" cy="785813"/>
          </a:xfrm>
          <a:prstGeom prst="rect">
            <a:avLst/>
          </a:prstGeom>
        </p:spPr>
      </p:pic>
      <p:pic>
        <p:nvPicPr>
          <p:cNvPr id="9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319" y="2914650"/>
            <a:ext cx="2133600" cy="685800"/>
          </a:xfrm>
          <a:prstGeom prst="rect">
            <a:avLst/>
          </a:prstGeom>
        </p:spPr>
      </p:pic>
      <p:pic>
        <p:nvPicPr>
          <p:cNvPr id="9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106" y="1333500"/>
            <a:ext cx="1471613" cy="785813"/>
          </a:xfrm>
          <a:prstGeom prst="rect">
            <a:avLst/>
          </a:prstGeom>
        </p:spPr>
      </p:pic>
      <p:pic>
        <p:nvPicPr>
          <p:cNvPr id="9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238" y="333375"/>
            <a:ext cx="190500" cy="190500"/>
          </a:xfrm>
          <a:prstGeom prst="rect">
            <a:avLst/>
          </a:prstGeom>
        </p:spPr>
      </p:pic>
      <p:pic>
        <p:nvPicPr>
          <p:cNvPr id="9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038" y="371475"/>
            <a:ext cx="92971" cy="92969"/>
          </a:xfrm>
          <a:prstGeom prst="rect">
            <a:avLst/>
          </a:prstGeom>
        </p:spPr>
      </p:pic>
      <p:pic>
        <p:nvPicPr>
          <p:cNvPr id="10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390525"/>
            <a:ext cx="63503" cy="63500"/>
          </a:xfrm>
          <a:prstGeom prst="rect">
            <a:avLst/>
          </a:prstGeom>
        </p:spPr>
      </p:pic>
      <p:sp>
        <p:nvSpPr>
          <p:cNvPr id="101" name="Text 93"/>
          <p:cNvSpPr/>
          <p:nvPr/>
        </p:nvSpPr>
        <p:spPr>
          <a:xfrm>
            <a:off x="4850978" y="10056019"/>
            <a:ext cx="1018654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Very Not Relevant</a:t>
            </a:r>
            <a:endParaRPr lang="en-US" sz="525" dirty="0"/>
          </a:p>
        </p:txBody>
      </p:sp>
      <p:sp>
        <p:nvSpPr>
          <p:cNvPr id="102" name="Text 94"/>
          <p:cNvSpPr/>
          <p:nvPr/>
        </p:nvSpPr>
        <p:spPr>
          <a:xfrm>
            <a:off x="4230216" y="10056019"/>
            <a:ext cx="858887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Relevant</a:t>
            </a:r>
            <a:endParaRPr lang="en-US" sz="525" dirty="0"/>
          </a:p>
        </p:txBody>
      </p:sp>
      <p:sp>
        <p:nvSpPr>
          <p:cNvPr id="103" name="Text 95"/>
          <p:cNvSpPr/>
          <p:nvPr/>
        </p:nvSpPr>
        <p:spPr>
          <a:xfrm>
            <a:off x="3774356" y="10056019"/>
            <a:ext cx="693986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Neutral</a:t>
            </a:r>
            <a:endParaRPr lang="en-US" sz="525" dirty="0"/>
          </a:p>
        </p:txBody>
      </p:sp>
      <p:sp>
        <p:nvSpPr>
          <p:cNvPr id="104" name="Text 96"/>
          <p:cNvSpPr/>
          <p:nvPr/>
        </p:nvSpPr>
        <p:spPr>
          <a:xfrm>
            <a:off x="3282702" y="10056019"/>
            <a:ext cx="729779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Relevant</a:t>
            </a:r>
            <a:endParaRPr lang="en-US" sz="525" dirty="0"/>
          </a:p>
        </p:txBody>
      </p:sp>
      <p:sp>
        <p:nvSpPr>
          <p:cNvPr id="105" name="Text 97"/>
          <p:cNvSpPr/>
          <p:nvPr/>
        </p:nvSpPr>
        <p:spPr>
          <a:xfrm>
            <a:off x="2631281" y="10056019"/>
            <a:ext cx="889546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Very Relevant</a:t>
            </a:r>
            <a:endParaRPr lang="en-US" sz="525" dirty="0"/>
          </a:p>
        </p:txBody>
      </p:sp>
      <p:sp>
        <p:nvSpPr>
          <p:cNvPr id="106" name="Text 98"/>
          <p:cNvSpPr/>
          <p:nvPr/>
        </p:nvSpPr>
        <p:spPr>
          <a:xfrm>
            <a:off x="2550319" y="9777413"/>
            <a:ext cx="4876800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3"/>
              </a:lnSpc>
              <a:buNone/>
            </a:pPr>
            <a:r>
              <a:rPr lang="en-US" sz="675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</a:t>
            </a:r>
            <a:endParaRPr lang="en-US" sz="675" dirty="0"/>
          </a:p>
        </p:txBody>
      </p:sp>
      <p:sp>
        <p:nvSpPr>
          <p:cNvPr id="107" name="Text 99"/>
          <p:cNvSpPr/>
          <p:nvPr/>
        </p:nvSpPr>
        <p:spPr>
          <a:xfrm>
            <a:off x="2702719" y="9179719"/>
            <a:ext cx="800100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Apply Now</a:t>
            </a:r>
            <a:endParaRPr lang="en-US" sz="525" dirty="0"/>
          </a:p>
        </p:txBody>
      </p:sp>
      <p:sp>
        <p:nvSpPr>
          <p:cNvPr id="108" name="Text 100"/>
          <p:cNvSpPr/>
          <p:nvPr/>
        </p:nvSpPr>
        <p:spPr>
          <a:xfrm>
            <a:off x="2626519" y="8877300"/>
            <a:ext cx="325278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fund aimed at improving healthcare access in rural areas by providing financial support to healthcare professionals and facilities.</a:t>
            </a:r>
            <a:endParaRPr lang="en-US" sz="525" dirty="0"/>
          </a:p>
        </p:txBody>
      </p:sp>
      <p:sp>
        <p:nvSpPr>
          <p:cNvPr id="109" name="Text 101"/>
          <p:cNvSpPr/>
          <p:nvPr/>
        </p:nvSpPr>
        <p:spPr>
          <a:xfrm>
            <a:off x="2626519" y="8763000"/>
            <a:ext cx="3252788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Rural Healthcare Access Fund</a:t>
            </a:r>
            <a:endParaRPr lang="en-US" sz="600" dirty="0"/>
          </a:p>
        </p:txBody>
      </p:sp>
      <p:sp>
        <p:nvSpPr>
          <p:cNvPr id="110" name="Text 102"/>
          <p:cNvSpPr/>
          <p:nvPr/>
        </p:nvSpPr>
        <p:spPr>
          <a:xfrm>
            <a:off x="4850978" y="7579519"/>
            <a:ext cx="1018654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Very Not Relevant</a:t>
            </a:r>
            <a:endParaRPr lang="en-US" sz="525" dirty="0"/>
          </a:p>
        </p:txBody>
      </p:sp>
      <p:sp>
        <p:nvSpPr>
          <p:cNvPr id="111" name="Text 103"/>
          <p:cNvSpPr/>
          <p:nvPr/>
        </p:nvSpPr>
        <p:spPr>
          <a:xfrm>
            <a:off x="4230216" y="7579519"/>
            <a:ext cx="858887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Relevant</a:t>
            </a:r>
            <a:endParaRPr lang="en-US" sz="525" dirty="0"/>
          </a:p>
        </p:txBody>
      </p:sp>
      <p:sp>
        <p:nvSpPr>
          <p:cNvPr id="112" name="Text 104"/>
          <p:cNvSpPr/>
          <p:nvPr/>
        </p:nvSpPr>
        <p:spPr>
          <a:xfrm>
            <a:off x="3774356" y="7579519"/>
            <a:ext cx="693986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Neutral</a:t>
            </a:r>
            <a:endParaRPr lang="en-US" sz="525" dirty="0"/>
          </a:p>
        </p:txBody>
      </p:sp>
      <p:sp>
        <p:nvSpPr>
          <p:cNvPr id="113" name="Text 105"/>
          <p:cNvSpPr/>
          <p:nvPr/>
        </p:nvSpPr>
        <p:spPr>
          <a:xfrm>
            <a:off x="3282702" y="7579519"/>
            <a:ext cx="729779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Relevant</a:t>
            </a:r>
            <a:endParaRPr lang="en-US" sz="525" dirty="0"/>
          </a:p>
        </p:txBody>
      </p:sp>
      <p:sp>
        <p:nvSpPr>
          <p:cNvPr id="114" name="Text 106"/>
          <p:cNvSpPr/>
          <p:nvPr/>
        </p:nvSpPr>
        <p:spPr>
          <a:xfrm>
            <a:off x="2631281" y="7579519"/>
            <a:ext cx="889546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Very Relevant</a:t>
            </a:r>
            <a:endParaRPr lang="en-US" sz="525" dirty="0"/>
          </a:p>
        </p:txBody>
      </p:sp>
      <p:sp>
        <p:nvSpPr>
          <p:cNvPr id="115" name="Text 107"/>
          <p:cNvSpPr/>
          <p:nvPr/>
        </p:nvSpPr>
        <p:spPr>
          <a:xfrm>
            <a:off x="2550319" y="7300913"/>
            <a:ext cx="4876800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3"/>
              </a:lnSpc>
              <a:buNone/>
            </a:pPr>
            <a:r>
              <a:rPr lang="en-US" sz="675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</a:t>
            </a:r>
            <a:endParaRPr lang="en-US" sz="675" dirty="0"/>
          </a:p>
        </p:txBody>
      </p:sp>
      <p:sp>
        <p:nvSpPr>
          <p:cNvPr id="116" name="Text 108"/>
          <p:cNvSpPr/>
          <p:nvPr/>
        </p:nvSpPr>
        <p:spPr>
          <a:xfrm>
            <a:off x="2702719" y="6703219"/>
            <a:ext cx="8143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Learn More</a:t>
            </a:r>
            <a:endParaRPr lang="en-US" sz="525" dirty="0"/>
          </a:p>
        </p:txBody>
      </p:sp>
      <p:sp>
        <p:nvSpPr>
          <p:cNvPr id="117" name="Text 109"/>
          <p:cNvSpPr/>
          <p:nvPr/>
        </p:nvSpPr>
        <p:spPr>
          <a:xfrm>
            <a:off x="2626519" y="6400800"/>
            <a:ext cx="325278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Offers grants for individuals seeking to upgrade their skills through certified training programs. Covers a wide range of courses from digital marketing to data science.</a:t>
            </a:r>
            <a:endParaRPr lang="en-US" sz="525" dirty="0"/>
          </a:p>
        </p:txBody>
      </p:sp>
      <p:sp>
        <p:nvSpPr>
          <p:cNvPr id="118" name="Text 110"/>
          <p:cNvSpPr/>
          <p:nvPr/>
        </p:nvSpPr>
        <p:spPr>
          <a:xfrm>
            <a:off x="2626519" y="6286500"/>
            <a:ext cx="3252788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Skill Development Grant</a:t>
            </a:r>
            <a:endParaRPr lang="en-US" sz="600" dirty="0"/>
          </a:p>
        </p:txBody>
      </p:sp>
      <p:sp>
        <p:nvSpPr>
          <p:cNvPr id="119" name="Text 111"/>
          <p:cNvSpPr/>
          <p:nvPr/>
        </p:nvSpPr>
        <p:spPr>
          <a:xfrm>
            <a:off x="4850978" y="5103019"/>
            <a:ext cx="1018654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Very Not Relevant</a:t>
            </a:r>
            <a:endParaRPr lang="en-US" sz="525" dirty="0"/>
          </a:p>
        </p:txBody>
      </p:sp>
      <p:sp>
        <p:nvSpPr>
          <p:cNvPr id="120" name="Text 112"/>
          <p:cNvSpPr/>
          <p:nvPr/>
        </p:nvSpPr>
        <p:spPr>
          <a:xfrm>
            <a:off x="4230216" y="5103019"/>
            <a:ext cx="858887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Relevant</a:t>
            </a:r>
            <a:endParaRPr lang="en-US" sz="525" dirty="0"/>
          </a:p>
        </p:txBody>
      </p:sp>
      <p:sp>
        <p:nvSpPr>
          <p:cNvPr id="121" name="Text 113"/>
          <p:cNvSpPr/>
          <p:nvPr/>
        </p:nvSpPr>
        <p:spPr>
          <a:xfrm>
            <a:off x="3774356" y="5103019"/>
            <a:ext cx="693986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Neutral</a:t>
            </a:r>
            <a:endParaRPr lang="en-US" sz="525" dirty="0"/>
          </a:p>
        </p:txBody>
      </p:sp>
      <p:sp>
        <p:nvSpPr>
          <p:cNvPr id="122" name="Text 114"/>
          <p:cNvSpPr/>
          <p:nvPr/>
        </p:nvSpPr>
        <p:spPr>
          <a:xfrm>
            <a:off x="3282702" y="5103019"/>
            <a:ext cx="729779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Relevant</a:t>
            </a:r>
            <a:endParaRPr lang="en-US" sz="525" dirty="0"/>
          </a:p>
        </p:txBody>
      </p:sp>
      <p:sp>
        <p:nvSpPr>
          <p:cNvPr id="123" name="Text 115"/>
          <p:cNvSpPr/>
          <p:nvPr/>
        </p:nvSpPr>
        <p:spPr>
          <a:xfrm>
            <a:off x="2631281" y="5103019"/>
            <a:ext cx="889546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Very Relevant</a:t>
            </a:r>
            <a:endParaRPr lang="en-US" sz="525" dirty="0"/>
          </a:p>
        </p:txBody>
      </p:sp>
      <p:sp>
        <p:nvSpPr>
          <p:cNvPr id="124" name="Text 116"/>
          <p:cNvSpPr/>
          <p:nvPr/>
        </p:nvSpPr>
        <p:spPr>
          <a:xfrm>
            <a:off x="2550319" y="4824413"/>
            <a:ext cx="4876800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3"/>
              </a:lnSpc>
              <a:buNone/>
            </a:pPr>
            <a:r>
              <a:rPr lang="en-US" sz="675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</a:t>
            </a:r>
            <a:endParaRPr lang="en-US" sz="675" dirty="0"/>
          </a:p>
        </p:txBody>
      </p:sp>
      <p:sp>
        <p:nvSpPr>
          <p:cNvPr id="125" name="Text 117"/>
          <p:cNvSpPr/>
          <p:nvPr/>
        </p:nvSpPr>
        <p:spPr>
          <a:xfrm>
            <a:off x="2702719" y="4226719"/>
            <a:ext cx="800100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Apply Now</a:t>
            </a:r>
            <a:endParaRPr lang="en-US" sz="525" dirty="0"/>
          </a:p>
        </p:txBody>
      </p:sp>
      <p:sp>
        <p:nvSpPr>
          <p:cNvPr id="126" name="Text 118"/>
          <p:cNvSpPr/>
          <p:nvPr/>
        </p:nvSpPr>
        <p:spPr>
          <a:xfrm>
            <a:off x="2626519" y="3924300"/>
            <a:ext cx="325278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Provides subsidies for installing solar panels and other renewable energy systems in homes and businesses. Eligibility requires a property assessment.</a:t>
            </a:r>
            <a:endParaRPr lang="en-US" sz="525" dirty="0"/>
          </a:p>
        </p:txBody>
      </p:sp>
      <p:sp>
        <p:nvSpPr>
          <p:cNvPr id="127" name="Text 119"/>
          <p:cNvSpPr/>
          <p:nvPr/>
        </p:nvSpPr>
        <p:spPr>
          <a:xfrm>
            <a:off x="2626519" y="3810000"/>
            <a:ext cx="3252788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Green Energy Incentive Program</a:t>
            </a:r>
            <a:endParaRPr lang="en-US" sz="600" dirty="0"/>
          </a:p>
        </p:txBody>
      </p:sp>
      <p:sp>
        <p:nvSpPr>
          <p:cNvPr id="128" name="Text 120"/>
          <p:cNvSpPr/>
          <p:nvPr/>
        </p:nvSpPr>
        <p:spPr>
          <a:xfrm>
            <a:off x="4850978" y="2626519"/>
            <a:ext cx="1018654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Very Not Relevant</a:t>
            </a:r>
            <a:endParaRPr lang="en-US" sz="525" dirty="0"/>
          </a:p>
        </p:txBody>
      </p:sp>
      <p:sp>
        <p:nvSpPr>
          <p:cNvPr id="129" name="Text 121"/>
          <p:cNvSpPr/>
          <p:nvPr/>
        </p:nvSpPr>
        <p:spPr>
          <a:xfrm>
            <a:off x="4230216" y="2626519"/>
            <a:ext cx="858887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Relevant</a:t>
            </a:r>
            <a:endParaRPr lang="en-US" sz="525" dirty="0"/>
          </a:p>
        </p:txBody>
      </p:sp>
      <p:sp>
        <p:nvSpPr>
          <p:cNvPr id="130" name="Text 122"/>
          <p:cNvSpPr/>
          <p:nvPr/>
        </p:nvSpPr>
        <p:spPr>
          <a:xfrm>
            <a:off x="3774356" y="2626519"/>
            <a:ext cx="693986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Neutral</a:t>
            </a:r>
            <a:endParaRPr lang="en-US" sz="525" dirty="0"/>
          </a:p>
        </p:txBody>
      </p:sp>
      <p:sp>
        <p:nvSpPr>
          <p:cNvPr id="131" name="Text 123"/>
          <p:cNvSpPr/>
          <p:nvPr/>
        </p:nvSpPr>
        <p:spPr>
          <a:xfrm>
            <a:off x="3282702" y="2626519"/>
            <a:ext cx="729779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Relevant</a:t>
            </a:r>
            <a:endParaRPr lang="en-US" sz="525" dirty="0"/>
          </a:p>
        </p:txBody>
      </p:sp>
      <p:sp>
        <p:nvSpPr>
          <p:cNvPr id="132" name="Text 124"/>
          <p:cNvSpPr/>
          <p:nvPr/>
        </p:nvSpPr>
        <p:spPr>
          <a:xfrm>
            <a:off x="2631281" y="2626519"/>
            <a:ext cx="889546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Very Relevant</a:t>
            </a:r>
            <a:endParaRPr lang="en-US" sz="525" dirty="0"/>
          </a:p>
        </p:txBody>
      </p:sp>
      <p:sp>
        <p:nvSpPr>
          <p:cNvPr id="133" name="Text 125"/>
          <p:cNvSpPr/>
          <p:nvPr/>
        </p:nvSpPr>
        <p:spPr>
          <a:xfrm>
            <a:off x="2550319" y="2347913"/>
            <a:ext cx="4876800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3"/>
              </a:lnSpc>
              <a:buNone/>
            </a:pPr>
            <a:r>
              <a:rPr lang="en-US" sz="675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</a:t>
            </a:r>
            <a:endParaRPr lang="en-US" sz="675" dirty="0"/>
          </a:p>
        </p:txBody>
      </p:sp>
      <p:sp>
        <p:nvSpPr>
          <p:cNvPr id="134" name="Text 126"/>
          <p:cNvSpPr/>
          <p:nvPr/>
        </p:nvSpPr>
        <p:spPr>
          <a:xfrm>
            <a:off x="2702719" y="1750219"/>
            <a:ext cx="8143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Learn More</a:t>
            </a:r>
            <a:endParaRPr lang="en-US" sz="525" dirty="0"/>
          </a:p>
        </p:txBody>
      </p:sp>
      <p:sp>
        <p:nvSpPr>
          <p:cNvPr id="135" name="Text 127"/>
          <p:cNvSpPr/>
          <p:nvPr/>
        </p:nvSpPr>
        <p:spPr>
          <a:xfrm>
            <a:off x="2626519" y="1447800"/>
            <a:ext cx="325278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scheme offers financial assistance and mentorship to small businesses in the tech sector. Benefits include low-interest loans and access to industry experts.</a:t>
            </a:r>
            <a:endParaRPr lang="en-US" sz="525" dirty="0"/>
          </a:p>
        </p:txBody>
      </p:sp>
      <p:sp>
        <p:nvSpPr>
          <p:cNvPr id="136" name="Text 128"/>
          <p:cNvSpPr/>
          <p:nvPr/>
        </p:nvSpPr>
        <p:spPr>
          <a:xfrm>
            <a:off x="2626519" y="1333500"/>
            <a:ext cx="3252788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Small Business Support Initiative</a:t>
            </a:r>
            <a:endParaRPr lang="en-US" sz="600" dirty="0"/>
          </a:p>
        </p:txBody>
      </p:sp>
      <p:sp>
        <p:nvSpPr>
          <p:cNvPr id="137" name="Text 129"/>
          <p:cNvSpPr/>
          <p:nvPr/>
        </p:nvSpPr>
        <p:spPr>
          <a:xfrm>
            <a:off x="2550319" y="1004887"/>
            <a:ext cx="3676650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Based on your profile, we've identified the following government schemes that may be beneficial for you.</a:t>
            </a:r>
            <a:endParaRPr lang="en-US" sz="525" dirty="0"/>
          </a:p>
        </p:txBody>
      </p:sp>
      <p:sp>
        <p:nvSpPr>
          <p:cNvPr id="138" name="Text 130"/>
          <p:cNvSpPr/>
          <p:nvPr/>
        </p:nvSpPr>
        <p:spPr>
          <a:xfrm>
            <a:off x="2550319" y="757238"/>
            <a:ext cx="3681412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Scheme Recommendations</a:t>
            </a:r>
            <a:endParaRPr lang="en-US" sz="1200" dirty="0"/>
          </a:p>
        </p:txBody>
      </p:sp>
      <p:sp>
        <p:nvSpPr>
          <p:cNvPr id="139" name="Text 131"/>
          <p:cNvSpPr/>
          <p:nvPr/>
        </p:nvSpPr>
        <p:spPr>
          <a:xfrm>
            <a:off x="6929438" y="371475"/>
            <a:ext cx="745406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F7396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Search</a:t>
            </a:r>
            <a:endParaRPr lang="en-US" sz="600" dirty="0"/>
          </a:p>
        </p:txBody>
      </p:sp>
      <p:sp>
        <p:nvSpPr>
          <p:cNvPr id="140" name="Text 132"/>
          <p:cNvSpPr/>
          <p:nvPr/>
        </p:nvSpPr>
        <p:spPr>
          <a:xfrm>
            <a:off x="3609975" y="378619"/>
            <a:ext cx="71437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Support</a:t>
            </a:r>
            <a:endParaRPr lang="en-US" sz="525" dirty="0"/>
          </a:p>
        </p:txBody>
      </p:sp>
      <p:sp>
        <p:nvSpPr>
          <p:cNvPr id="141" name="Text 133"/>
          <p:cNvSpPr/>
          <p:nvPr/>
        </p:nvSpPr>
        <p:spPr>
          <a:xfrm>
            <a:off x="3228975" y="378619"/>
            <a:ext cx="666750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Profile</a:t>
            </a:r>
            <a:endParaRPr lang="en-US" sz="525" dirty="0"/>
          </a:p>
        </p:txBody>
      </p:sp>
      <p:sp>
        <p:nvSpPr>
          <p:cNvPr id="142" name="Text 134"/>
          <p:cNvSpPr/>
          <p:nvPr/>
        </p:nvSpPr>
        <p:spPr>
          <a:xfrm>
            <a:off x="2719388" y="378619"/>
            <a:ext cx="7953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525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525" dirty="0"/>
          </a:p>
        </p:txBody>
      </p:sp>
      <p:sp>
        <p:nvSpPr>
          <p:cNvPr id="143" name="Text 135"/>
          <p:cNvSpPr/>
          <p:nvPr/>
        </p:nvSpPr>
        <p:spPr>
          <a:xfrm>
            <a:off x="1866900" y="373856"/>
            <a:ext cx="1157288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3"/>
              </a:lnSpc>
              <a:buNone/>
            </a:pPr>
            <a:r>
              <a:rPr lang="en-US" sz="675" b="1" dirty="0">
                <a:solidFill>
                  <a:srgbClr val="0D141C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SchemeMatch AI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3" y="164306"/>
            <a:ext cx="7096125" cy="47291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On-screen Show (16:9)</PresentationFormat>
  <Paragraphs>136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iITCELL</cp:lastModifiedBy>
  <cp:revision>1</cp:revision>
  <dcterms:created xsi:type="dcterms:W3CDTF">2025-08-11T04:47:20Z</dcterms:created>
  <dcterms:modified xsi:type="dcterms:W3CDTF">2025-08-11T04:48:42Z</dcterms:modified>
</cp:coreProperties>
</file>